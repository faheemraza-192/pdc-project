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753600" cy="7315200"/>
  <p:notesSz cx="6858000" cy="9144000"/>
  <p:embeddedFontLst>
    <p:embeddedFont>
      <p:font typeface="Segoe Script Bold" panose="020B0804020000000003"/>
      <p:bold r:id="rId21"/>
    </p:embeddedFont>
    <p:embeddedFont>
      <p:font typeface="Times New Roman MT" panose="02030502070405020303"/>
      <p:regular r:id="rId22"/>
    </p:embeddedFont>
    <p:embeddedFont>
      <p:font typeface="Calibri (MS) Bold" panose="020F0702030404030204"/>
      <p:bold r:id="rId23"/>
    </p:embeddedFont>
    <p:embeddedFont>
      <p:font typeface="Calibri (MS)" panose="020F0502020204030204"/>
      <p:regular r:id="rId24"/>
    </p:embeddedFont>
    <p:embeddedFont>
      <p:font typeface="Segoe Script" panose="030B0504020000000003"/>
      <p:regular r:id="rId25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47A1">
                <a:alpha val="100000"/>
              </a:srgbClr>
            </a:gs>
            <a:gs pos="100000">
              <a:srgbClr val="D81B60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315200" y="292608"/>
            <a:ext cx="2438400" cy="2438400"/>
            <a:chOff x="0" y="0"/>
            <a:chExt cx="3251200" cy="325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FFA7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-780288" y="4389120"/>
            <a:ext cx="2438400" cy="2438400"/>
            <a:chOff x="0" y="0"/>
            <a:chExt cx="3251200" cy="3251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4E9AF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195072" y="195072"/>
            <a:ext cx="1267968" cy="1267968"/>
            <a:chOff x="0" y="0"/>
            <a:chExt cx="1690624" cy="16906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0751" cy="1690751"/>
            </a:xfrm>
            <a:custGeom>
              <a:avLst/>
              <a:gdLst/>
              <a:ahLst/>
              <a:cxnLst/>
              <a:rect l="l" t="t" r="r" b="b"/>
              <a:pathLst>
                <a:path w="1690751" h="1690751">
                  <a:moveTo>
                    <a:pt x="0" y="281813"/>
                  </a:moveTo>
                  <a:cubicBezTo>
                    <a:pt x="0" y="126111"/>
                    <a:pt x="126111" y="0"/>
                    <a:pt x="281813" y="0"/>
                  </a:cubicBezTo>
                  <a:lnTo>
                    <a:pt x="1408938" y="0"/>
                  </a:lnTo>
                  <a:cubicBezTo>
                    <a:pt x="1564513" y="0"/>
                    <a:pt x="1690751" y="126111"/>
                    <a:pt x="1690751" y="281813"/>
                  </a:cubicBezTo>
                  <a:lnTo>
                    <a:pt x="1690751" y="1408938"/>
                  </a:lnTo>
                  <a:cubicBezTo>
                    <a:pt x="1690751" y="1564513"/>
                    <a:pt x="1564640" y="1690751"/>
                    <a:pt x="1408938" y="1690751"/>
                  </a:cubicBezTo>
                  <a:lnTo>
                    <a:pt x="281813" y="1690751"/>
                  </a:lnTo>
                  <a:cubicBezTo>
                    <a:pt x="126111" y="1690624"/>
                    <a:pt x="0" y="1564513"/>
                    <a:pt x="0" y="1408811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 descr="3868902.png"/>
          <p:cNvSpPr/>
          <p:nvPr/>
        </p:nvSpPr>
        <p:spPr>
          <a:xfrm>
            <a:off x="7997952" y="53644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0"/>
                </a:moveTo>
                <a:lnTo>
                  <a:pt x="1463040" y="0"/>
                </a:lnTo>
                <a:lnTo>
                  <a:pt x="146304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66800" y="310515"/>
            <a:ext cx="762000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5760" b="1">
                <a:solidFill>
                  <a:srgbClr val="FFFFFF"/>
                </a:solidFill>
                <a:latin typeface="Segoe Script Bold" panose="020B0804020000000003"/>
                <a:ea typeface="Segoe Script Bold" panose="020B0804020000000003"/>
                <a:cs typeface="Segoe Script Bold" panose="020B0804020000000003"/>
                <a:sym typeface="Segoe Script Bold" panose="020B0804020000000003"/>
              </a:rPr>
              <a:t>Parallel &amp; Distributed Computing</a:t>
            </a:r>
            <a:endParaRPr lang="en-US" sz="5760" b="1">
              <a:solidFill>
                <a:srgbClr val="FFFFFF"/>
              </a:solidFill>
              <a:latin typeface="Segoe Script Bold" panose="020B0804020000000003"/>
              <a:ea typeface="Segoe Script Bold" panose="020B0804020000000003"/>
              <a:cs typeface="Segoe Script Bold" panose="020B0804020000000003"/>
              <a:sym typeface="Segoe Script Bold" panose="020B08040200000000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6800" y="6091047"/>
            <a:ext cx="76200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56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Performance Comparison of Serial vs Parallel Implementations</a:t>
            </a:r>
            <a:endParaRPr lang="en-US" sz="256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08580" y="3218180"/>
            <a:ext cx="5700395" cy="2089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L1S23BSCS0257 — Faheem Raza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L1S22BSCS0211 — Ali Ahmad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L1S22BSCS0188 — Abdullah Manzoor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L1S22BSCS0217 — Eman Awan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L1S22BSCS0188 — Hamza Amir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r>
              <a:rPr lang="en-US" sz="2200">
                <a:solidFill>
                  <a:srgbClr val="DCDCDC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L1S22BSCS0224 — Rana Hassan</a:t>
            </a: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ct val="100000"/>
              </a:lnSpc>
            </a:pPr>
            <a:endParaRPr lang="en-US" sz="2200">
              <a:solidFill>
                <a:srgbClr val="DCDCDC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>
                <a:alpha val="100000"/>
              </a:srgbClr>
            </a:gs>
            <a:gs pos="100000">
              <a:srgbClr val="6A1B9A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802880" y="195072"/>
            <a:ext cx="1755648" cy="975360"/>
            <a:chOff x="0" y="0"/>
            <a:chExt cx="2340864" cy="1300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0864" cy="1300480"/>
            </a:xfrm>
            <a:custGeom>
              <a:avLst/>
              <a:gdLst/>
              <a:ahLst/>
              <a:cxnLst/>
              <a:rect l="l" t="t" r="r" b="b"/>
              <a:pathLst>
                <a:path w="2340864" h="1300480">
                  <a:moveTo>
                    <a:pt x="0" y="216789"/>
                  </a:moveTo>
                  <a:cubicBezTo>
                    <a:pt x="0" y="97028"/>
                    <a:pt x="97028" y="0"/>
                    <a:pt x="216789" y="0"/>
                  </a:cubicBezTo>
                  <a:lnTo>
                    <a:pt x="2124075" y="0"/>
                  </a:lnTo>
                  <a:cubicBezTo>
                    <a:pt x="2243836" y="0"/>
                    <a:pt x="2340864" y="97028"/>
                    <a:pt x="2340864" y="216789"/>
                  </a:cubicBezTo>
                  <a:lnTo>
                    <a:pt x="2340864" y="1083691"/>
                  </a:lnTo>
                  <a:cubicBezTo>
                    <a:pt x="2340864" y="1203452"/>
                    <a:pt x="2243836" y="1300480"/>
                    <a:pt x="2124075" y="1300480"/>
                  </a:cubicBezTo>
                  <a:lnTo>
                    <a:pt x="216789" y="1300480"/>
                  </a:lnTo>
                  <a:cubicBezTo>
                    <a:pt x="97028" y="1300480"/>
                    <a:pt x="0" y="1203452"/>
                    <a:pt x="0" y="1083691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distributed-computing-icon-vector.jpg"/>
          <p:cNvSpPr/>
          <p:nvPr/>
        </p:nvSpPr>
        <p:spPr>
          <a:xfrm>
            <a:off x="7022592" y="4681728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🚀 Project Introduction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58240" y="1763268"/>
            <a:ext cx="5577840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What is this project?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This project focuses on analyzing execution performance of a real-world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application using: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Serial programming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Parallel programming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Distributed computing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same logic and dataset are used in all implementations to ensure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fair comparison.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🎯 Goal: Reduce execution time and improve scalability.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5100">
                <a:alpha val="100000"/>
              </a:srgbClr>
            </a:gs>
            <a:gs pos="100000">
              <a:srgbClr val="6A1B9A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487680" y="1950720"/>
            <a:ext cx="1950720" cy="1950720"/>
            <a:chOff x="0" y="0"/>
            <a:chExt cx="260096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0960" cy="2600960"/>
            </a:xfrm>
            <a:custGeom>
              <a:avLst/>
              <a:gdLst/>
              <a:ahLst/>
              <a:cxnLst/>
              <a:rect l="l" t="t" r="r" b="b"/>
              <a:pathLst>
                <a:path w="2600960" h="2600960">
                  <a:moveTo>
                    <a:pt x="0" y="1300480"/>
                  </a:moveTo>
                  <a:cubicBezTo>
                    <a:pt x="0" y="582295"/>
                    <a:pt x="582295" y="0"/>
                    <a:pt x="1300480" y="0"/>
                  </a:cubicBezTo>
                  <a:cubicBezTo>
                    <a:pt x="2018665" y="0"/>
                    <a:pt x="2600960" y="582295"/>
                    <a:pt x="2600960" y="1300480"/>
                  </a:cubicBezTo>
                  <a:cubicBezTo>
                    <a:pt x="2600960" y="2018665"/>
                    <a:pt x="2018665" y="2600960"/>
                    <a:pt x="1300480" y="2600960"/>
                  </a:cubicBezTo>
                  <a:cubicBezTo>
                    <a:pt x="582295" y="2600960"/>
                    <a:pt x="0" y="2018665"/>
                    <a:pt x="0" y="130048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⚡ Problem Statement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5920" y="1744218"/>
            <a:ext cx="655320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Problem Being Solved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Large datasets take more time in serial execution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Single-core execution is inefficient for modern systems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We need to evaluate: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Which technique performs better?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Where parallelism helps?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What are the trade-offs?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E20">
                <a:alpha val="100000"/>
              </a:srgbClr>
            </a:gs>
            <a:gs pos="100000">
              <a:srgbClr val="0D47A1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0" y="5258943"/>
            <a:ext cx="2438400" cy="1950720"/>
            <a:chOff x="0" y="0"/>
            <a:chExt cx="325120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2600960"/>
            </a:xfrm>
            <a:custGeom>
              <a:avLst/>
              <a:gdLst/>
              <a:ahLst/>
              <a:cxnLst/>
              <a:rect l="l" t="t" r="r" b="b"/>
              <a:pathLst>
                <a:path w="3251200" h="2600960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2817749" y="0"/>
                  </a:lnTo>
                  <a:cubicBezTo>
                    <a:pt x="3057144" y="0"/>
                    <a:pt x="3251200" y="194056"/>
                    <a:pt x="3251200" y="433451"/>
                  </a:cubicBezTo>
                  <a:lnTo>
                    <a:pt x="3251200" y="2167509"/>
                  </a:lnTo>
                  <a:cubicBezTo>
                    <a:pt x="3251200" y="2406904"/>
                    <a:pt x="3057144" y="2600960"/>
                    <a:pt x="2817749" y="2600960"/>
                  </a:cubicBezTo>
                  <a:lnTo>
                    <a:pt x="433451" y="2600960"/>
                  </a:lnTo>
                  <a:cubicBezTo>
                    <a:pt x="194056" y="2600960"/>
                    <a:pt x="0" y="2406904"/>
                    <a:pt x="0" y="2167509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distributed-database-icon-suitable-for-a-wide-range-of-digital-creative-projects-free-vector.jpg"/>
          <p:cNvSpPr/>
          <p:nvPr/>
        </p:nvSpPr>
        <p:spPr>
          <a:xfrm>
            <a:off x="7501738" y="1118083"/>
            <a:ext cx="2065325" cy="2065325"/>
          </a:xfrm>
          <a:custGeom>
            <a:avLst/>
            <a:gdLst/>
            <a:ahLst/>
            <a:cxnLst/>
            <a:rect l="l" t="t" r="r" b="b"/>
            <a:pathLst>
              <a:path w="2065325" h="2065325">
                <a:moveTo>
                  <a:pt x="0" y="0"/>
                </a:moveTo>
                <a:lnTo>
                  <a:pt x="2065324" y="0"/>
                </a:lnTo>
                <a:lnTo>
                  <a:pt x="2065324" y="2065325"/>
                </a:lnTo>
                <a:lnTo>
                  <a:pt x="0" y="206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📊 Dataset &amp; Application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45920" y="1744218"/>
            <a:ext cx="6553200" cy="322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Project Background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application processes a travel packages dataset.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Operations include: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Reading large input data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Filtering results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Ranking packages based on score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This makes it suitable for parallel workload distribution.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E20">
                <a:alpha val="100000"/>
              </a:srgbClr>
            </a:gs>
            <a:gs pos="100000">
              <a:srgbClr val="0D47A1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0" y="5258943"/>
            <a:ext cx="2438400" cy="1950720"/>
            <a:chOff x="0" y="0"/>
            <a:chExt cx="325120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2600960"/>
            </a:xfrm>
            <a:custGeom>
              <a:avLst/>
              <a:gdLst/>
              <a:ahLst/>
              <a:cxnLst/>
              <a:rect l="l" t="t" r="r" b="b"/>
              <a:pathLst>
                <a:path w="3251200" h="2600960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2817749" y="0"/>
                  </a:lnTo>
                  <a:cubicBezTo>
                    <a:pt x="3057144" y="0"/>
                    <a:pt x="3251200" y="194056"/>
                    <a:pt x="3251200" y="433451"/>
                  </a:cubicBezTo>
                  <a:lnTo>
                    <a:pt x="3251200" y="2167509"/>
                  </a:lnTo>
                  <a:cubicBezTo>
                    <a:pt x="3251200" y="2406904"/>
                    <a:pt x="3057144" y="2600960"/>
                    <a:pt x="2817749" y="2600960"/>
                  </a:cubicBezTo>
                  <a:lnTo>
                    <a:pt x="433451" y="2600960"/>
                  </a:lnTo>
                  <a:cubicBezTo>
                    <a:pt x="194056" y="2600960"/>
                    <a:pt x="0" y="2406904"/>
                    <a:pt x="0" y="2167509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distributed-database-icon-suitable-for-a-wide-range-of-digital-creative-projects-free-vector.jpg"/>
          <p:cNvSpPr/>
          <p:nvPr/>
        </p:nvSpPr>
        <p:spPr>
          <a:xfrm>
            <a:off x="7501738" y="1118083"/>
            <a:ext cx="2065325" cy="2065325"/>
          </a:xfrm>
          <a:custGeom>
            <a:avLst/>
            <a:gdLst/>
            <a:ahLst/>
            <a:cxnLst/>
            <a:rect l="l" t="t" r="r" b="b"/>
            <a:pathLst>
              <a:path w="2065325" h="2065325">
                <a:moveTo>
                  <a:pt x="0" y="0"/>
                </a:moveTo>
                <a:lnTo>
                  <a:pt x="2065324" y="0"/>
                </a:lnTo>
                <a:lnTo>
                  <a:pt x="2065324" y="2065325"/>
                </a:lnTo>
                <a:lnTo>
                  <a:pt x="0" y="206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Basic Approach (Normal Execution)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1520" y="1252462"/>
            <a:ext cx="6770218" cy="369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42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Basic Working of the Application</a:t>
            </a:r>
            <a:endParaRPr lang="en-US" sz="242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910"/>
              </a:lnSpc>
            </a:pPr>
          </a:p>
          <a:p>
            <a:pPr algn="l">
              <a:lnSpc>
                <a:spcPts val="2910"/>
              </a:lnSpc>
            </a:pPr>
          </a:p>
          <a:p>
            <a:pPr marL="523240" lvl="1" indent="-261620" algn="l">
              <a:lnSpc>
                <a:spcPts val="2910"/>
              </a:lnSpc>
              <a:buFont typeface="Arial" panose="020B0604020202020204"/>
              <a:buChar char="•"/>
            </a:pPr>
            <a:r>
              <a:rPr lang="en-US" sz="242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In the basic approach, we will run the normal project files.</a:t>
            </a:r>
            <a:endParaRPr lang="en-US" sz="242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23240" lvl="1" indent="-261620" algn="l">
              <a:lnSpc>
                <a:spcPts val="2910"/>
              </a:lnSpc>
              <a:buFont typeface="Arial" panose="020B0604020202020204"/>
              <a:buChar char="•"/>
            </a:pPr>
            <a:r>
              <a:rPr lang="en-US" sz="242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This execution represents the baseline (serial execution).</a:t>
            </a:r>
            <a:endParaRPr lang="en-US" sz="242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23240" lvl="1" indent="-261620" algn="l">
              <a:lnSpc>
                <a:spcPts val="2910"/>
              </a:lnSpc>
              <a:buFont typeface="Arial" panose="020B0604020202020204"/>
              <a:buChar char="•"/>
            </a:pPr>
            <a:r>
              <a:rPr lang="en-US" sz="242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No parallel or distributed technique is applied at this stage.</a:t>
            </a:r>
            <a:endParaRPr lang="en-US" sz="242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910"/>
              </a:lnSpc>
            </a:p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A148C">
                <a:alpha val="100000"/>
              </a:srgbClr>
            </a:gs>
            <a:gs pos="100000">
              <a:srgbClr val="B71C1C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802880" y="975360"/>
            <a:ext cx="2438400" cy="2438400"/>
            <a:chOff x="0" y="0"/>
            <a:chExt cx="3251200" cy="325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🛠️ Technologies Used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961815" y="1937175"/>
            <a:ext cx="1977809" cy="1197521"/>
            <a:chOff x="0" y="0"/>
            <a:chExt cx="2637079" cy="1596695"/>
          </a:xfrm>
        </p:grpSpPr>
        <p:sp>
          <p:nvSpPr>
            <p:cNvPr id="6" name="Freeform 6"/>
            <p:cNvSpPr/>
            <p:nvPr/>
          </p:nvSpPr>
          <p:spPr>
            <a:xfrm>
              <a:off x="18034" y="18034"/>
              <a:ext cx="2600960" cy="1560576"/>
            </a:xfrm>
            <a:custGeom>
              <a:avLst/>
              <a:gdLst/>
              <a:ahLst/>
              <a:cxnLst/>
              <a:rect l="l" t="t" r="r" b="b"/>
              <a:pathLst>
                <a:path w="2600960" h="1560576">
                  <a:moveTo>
                    <a:pt x="0" y="260096"/>
                  </a:moveTo>
                  <a:cubicBezTo>
                    <a:pt x="0" y="116459"/>
                    <a:pt x="117475" y="0"/>
                    <a:pt x="262509" y="0"/>
                  </a:cubicBezTo>
                  <a:lnTo>
                    <a:pt x="2338451" y="0"/>
                  </a:lnTo>
                  <a:cubicBezTo>
                    <a:pt x="2483358" y="0"/>
                    <a:pt x="2600960" y="116459"/>
                    <a:pt x="2600960" y="260096"/>
                  </a:cubicBezTo>
                  <a:lnTo>
                    <a:pt x="2600960" y="1300480"/>
                  </a:lnTo>
                  <a:cubicBezTo>
                    <a:pt x="2600960" y="1444117"/>
                    <a:pt x="2483485" y="1560576"/>
                    <a:pt x="2338451" y="1560576"/>
                  </a:cubicBezTo>
                  <a:lnTo>
                    <a:pt x="262509" y="1560576"/>
                  </a:lnTo>
                  <a:cubicBezTo>
                    <a:pt x="117602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42A5F5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637028" cy="1596644"/>
            </a:xfrm>
            <a:custGeom>
              <a:avLst/>
              <a:gdLst/>
              <a:ahLst/>
              <a:cxnLst/>
              <a:rect l="l" t="t" r="r" b="b"/>
              <a:pathLst>
                <a:path w="2637028" h="1596644">
                  <a:moveTo>
                    <a:pt x="0" y="278130"/>
                  </a:moveTo>
                  <a:cubicBezTo>
                    <a:pt x="0" y="124333"/>
                    <a:pt x="125730" y="0"/>
                    <a:pt x="280543" y="0"/>
                  </a:cubicBezTo>
                  <a:lnTo>
                    <a:pt x="2356485" y="0"/>
                  </a:lnTo>
                  <a:lnTo>
                    <a:pt x="2356485" y="18034"/>
                  </a:lnTo>
                  <a:lnTo>
                    <a:pt x="2356485" y="0"/>
                  </a:lnTo>
                  <a:cubicBezTo>
                    <a:pt x="2511298" y="0"/>
                    <a:pt x="2637028" y="124333"/>
                    <a:pt x="2637028" y="278130"/>
                  </a:cubicBezTo>
                  <a:lnTo>
                    <a:pt x="2618994" y="278130"/>
                  </a:lnTo>
                  <a:lnTo>
                    <a:pt x="2637028" y="278130"/>
                  </a:lnTo>
                  <a:lnTo>
                    <a:pt x="2637028" y="1318514"/>
                  </a:lnTo>
                  <a:lnTo>
                    <a:pt x="2618994" y="1318514"/>
                  </a:lnTo>
                  <a:lnTo>
                    <a:pt x="2637028" y="1318514"/>
                  </a:lnTo>
                  <a:cubicBezTo>
                    <a:pt x="2637028" y="1472311"/>
                    <a:pt x="2511298" y="1596644"/>
                    <a:pt x="2356485" y="1596644"/>
                  </a:cubicBezTo>
                  <a:lnTo>
                    <a:pt x="2356485" y="1578610"/>
                  </a:lnTo>
                  <a:lnTo>
                    <a:pt x="2356485" y="1596644"/>
                  </a:lnTo>
                  <a:lnTo>
                    <a:pt x="280543" y="1596644"/>
                  </a:lnTo>
                  <a:lnTo>
                    <a:pt x="280543" y="1578610"/>
                  </a:lnTo>
                  <a:lnTo>
                    <a:pt x="280543" y="1596644"/>
                  </a:lnTo>
                  <a:cubicBezTo>
                    <a:pt x="125730" y="1596644"/>
                    <a:pt x="0" y="1472311"/>
                    <a:pt x="0" y="1318514"/>
                  </a:cubicBezTo>
                  <a:lnTo>
                    <a:pt x="0" y="278130"/>
                  </a:lnTo>
                  <a:lnTo>
                    <a:pt x="18034" y="278130"/>
                  </a:lnTo>
                  <a:lnTo>
                    <a:pt x="0" y="278130"/>
                  </a:lnTo>
                  <a:moveTo>
                    <a:pt x="36068" y="278130"/>
                  </a:moveTo>
                  <a:lnTo>
                    <a:pt x="36068" y="1318514"/>
                  </a:lnTo>
                  <a:lnTo>
                    <a:pt x="18034" y="1318514"/>
                  </a:lnTo>
                  <a:lnTo>
                    <a:pt x="36068" y="1318514"/>
                  </a:lnTo>
                  <a:cubicBezTo>
                    <a:pt x="36068" y="1451991"/>
                    <a:pt x="145288" y="1560576"/>
                    <a:pt x="280543" y="1560576"/>
                  </a:cubicBezTo>
                  <a:lnTo>
                    <a:pt x="2356485" y="1560576"/>
                  </a:lnTo>
                  <a:cubicBezTo>
                    <a:pt x="2491613" y="1560576"/>
                    <a:pt x="2600960" y="1452118"/>
                    <a:pt x="2600960" y="1318514"/>
                  </a:cubicBezTo>
                  <a:lnTo>
                    <a:pt x="2600960" y="278130"/>
                  </a:lnTo>
                  <a:cubicBezTo>
                    <a:pt x="2600960" y="144653"/>
                    <a:pt x="2491740" y="36068"/>
                    <a:pt x="2356485" y="36068"/>
                  </a:cubicBezTo>
                  <a:lnTo>
                    <a:pt x="280543" y="36068"/>
                  </a:lnTo>
                  <a:lnTo>
                    <a:pt x="280543" y="18034"/>
                  </a:lnTo>
                  <a:lnTo>
                    <a:pt x="280543" y="36068"/>
                  </a:lnTo>
                  <a:cubicBezTo>
                    <a:pt x="145415" y="36068"/>
                    <a:pt x="36068" y="144653"/>
                    <a:pt x="36068" y="27813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637079" cy="164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0"/>
                </a:lnSpc>
              </a:pPr>
              <a:r>
                <a:rPr lang="en-US" sz="256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Serial C</a:t>
              </a:r>
              <a:endParaRPr lang="en-US" sz="256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3400215" y="1937175"/>
            <a:ext cx="1977809" cy="1197521"/>
            <a:chOff x="0" y="0"/>
            <a:chExt cx="2637079" cy="1596695"/>
          </a:xfrm>
        </p:grpSpPr>
        <p:sp>
          <p:nvSpPr>
            <p:cNvPr id="10" name="Freeform 10"/>
            <p:cNvSpPr/>
            <p:nvPr/>
          </p:nvSpPr>
          <p:spPr>
            <a:xfrm>
              <a:off x="18034" y="18034"/>
              <a:ext cx="2600960" cy="1560576"/>
            </a:xfrm>
            <a:custGeom>
              <a:avLst/>
              <a:gdLst/>
              <a:ahLst/>
              <a:cxnLst/>
              <a:rect l="l" t="t" r="r" b="b"/>
              <a:pathLst>
                <a:path w="2600960" h="1560576">
                  <a:moveTo>
                    <a:pt x="0" y="260096"/>
                  </a:moveTo>
                  <a:cubicBezTo>
                    <a:pt x="0" y="116459"/>
                    <a:pt x="117475" y="0"/>
                    <a:pt x="262509" y="0"/>
                  </a:cubicBezTo>
                  <a:lnTo>
                    <a:pt x="2338451" y="0"/>
                  </a:lnTo>
                  <a:cubicBezTo>
                    <a:pt x="2483358" y="0"/>
                    <a:pt x="2600960" y="116459"/>
                    <a:pt x="2600960" y="260096"/>
                  </a:cubicBezTo>
                  <a:lnTo>
                    <a:pt x="2600960" y="1300480"/>
                  </a:lnTo>
                  <a:cubicBezTo>
                    <a:pt x="2600960" y="1444117"/>
                    <a:pt x="2483485" y="1560576"/>
                    <a:pt x="2338451" y="1560576"/>
                  </a:cubicBezTo>
                  <a:lnTo>
                    <a:pt x="262509" y="1560576"/>
                  </a:lnTo>
                  <a:cubicBezTo>
                    <a:pt x="117602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AB47BC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2637028" cy="1596644"/>
            </a:xfrm>
            <a:custGeom>
              <a:avLst/>
              <a:gdLst/>
              <a:ahLst/>
              <a:cxnLst/>
              <a:rect l="l" t="t" r="r" b="b"/>
              <a:pathLst>
                <a:path w="2637028" h="1596644">
                  <a:moveTo>
                    <a:pt x="0" y="278130"/>
                  </a:moveTo>
                  <a:cubicBezTo>
                    <a:pt x="0" y="124333"/>
                    <a:pt x="125730" y="0"/>
                    <a:pt x="280543" y="0"/>
                  </a:cubicBezTo>
                  <a:lnTo>
                    <a:pt x="2356485" y="0"/>
                  </a:lnTo>
                  <a:lnTo>
                    <a:pt x="2356485" y="18034"/>
                  </a:lnTo>
                  <a:lnTo>
                    <a:pt x="2356485" y="0"/>
                  </a:lnTo>
                  <a:cubicBezTo>
                    <a:pt x="2511298" y="0"/>
                    <a:pt x="2637028" y="124333"/>
                    <a:pt x="2637028" y="278130"/>
                  </a:cubicBezTo>
                  <a:lnTo>
                    <a:pt x="2618994" y="278130"/>
                  </a:lnTo>
                  <a:lnTo>
                    <a:pt x="2637028" y="278130"/>
                  </a:lnTo>
                  <a:lnTo>
                    <a:pt x="2637028" y="1318514"/>
                  </a:lnTo>
                  <a:lnTo>
                    <a:pt x="2618994" y="1318514"/>
                  </a:lnTo>
                  <a:lnTo>
                    <a:pt x="2637028" y="1318514"/>
                  </a:lnTo>
                  <a:cubicBezTo>
                    <a:pt x="2637028" y="1472311"/>
                    <a:pt x="2511298" y="1596644"/>
                    <a:pt x="2356485" y="1596644"/>
                  </a:cubicBezTo>
                  <a:lnTo>
                    <a:pt x="2356485" y="1578610"/>
                  </a:lnTo>
                  <a:lnTo>
                    <a:pt x="2356485" y="1596644"/>
                  </a:lnTo>
                  <a:lnTo>
                    <a:pt x="280543" y="1596644"/>
                  </a:lnTo>
                  <a:lnTo>
                    <a:pt x="280543" y="1578610"/>
                  </a:lnTo>
                  <a:lnTo>
                    <a:pt x="280543" y="1596644"/>
                  </a:lnTo>
                  <a:cubicBezTo>
                    <a:pt x="125730" y="1596644"/>
                    <a:pt x="0" y="1472311"/>
                    <a:pt x="0" y="1318514"/>
                  </a:cubicBezTo>
                  <a:lnTo>
                    <a:pt x="0" y="278130"/>
                  </a:lnTo>
                  <a:lnTo>
                    <a:pt x="18034" y="278130"/>
                  </a:lnTo>
                  <a:lnTo>
                    <a:pt x="0" y="278130"/>
                  </a:lnTo>
                  <a:moveTo>
                    <a:pt x="36068" y="278130"/>
                  </a:moveTo>
                  <a:lnTo>
                    <a:pt x="36068" y="1318514"/>
                  </a:lnTo>
                  <a:lnTo>
                    <a:pt x="18034" y="1318514"/>
                  </a:lnTo>
                  <a:lnTo>
                    <a:pt x="36068" y="1318514"/>
                  </a:lnTo>
                  <a:cubicBezTo>
                    <a:pt x="36068" y="1451991"/>
                    <a:pt x="145288" y="1560576"/>
                    <a:pt x="280543" y="1560576"/>
                  </a:cubicBezTo>
                  <a:lnTo>
                    <a:pt x="2356485" y="1560576"/>
                  </a:lnTo>
                  <a:cubicBezTo>
                    <a:pt x="2491613" y="1560576"/>
                    <a:pt x="2600960" y="1452118"/>
                    <a:pt x="2600960" y="1318514"/>
                  </a:cubicBezTo>
                  <a:lnTo>
                    <a:pt x="2600960" y="278130"/>
                  </a:lnTo>
                  <a:cubicBezTo>
                    <a:pt x="2600960" y="144653"/>
                    <a:pt x="2491740" y="36068"/>
                    <a:pt x="2356485" y="36068"/>
                  </a:cubicBezTo>
                  <a:lnTo>
                    <a:pt x="280543" y="36068"/>
                  </a:lnTo>
                  <a:lnTo>
                    <a:pt x="280543" y="18034"/>
                  </a:lnTo>
                  <a:lnTo>
                    <a:pt x="280543" y="36068"/>
                  </a:lnTo>
                  <a:cubicBezTo>
                    <a:pt x="145415" y="36068"/>
                    <a:pt x="36068" y="144653"/>
                    <a:pt x="36068" y="27813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37079" cy="164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0"/>
                </a:lnSpc>
              </a:pPr>
              <a:r>
                <a:rPr lang="en-US" sz="256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Pthreads</a:t>
              </a:r>
              <a:endParaRPr lang="en-US" sz="256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5838615" y="1937175"/>
            <a:ext cx="1977809" cy="1197521"/>
            <a:chOff x="0" y="0"/>
            <a:chExt cx="2637079" cy="1596695"/>
          </a:xfrm>
        </p:grpSpPr>
        <p:sp>
          <p:nvSpPr>
            <p:cNvPr id="14" name="Freeform 14"/>
            <p:cNvSpPr/>
            <p:nvPr/>
          </p:nvSpPr>
          <p:spPr>
            <a:xfrm>
              <a:off x="18034" y="18034"/>
              <a:ext cx="2600960" cy="1560576"/>
            </a:xfrm>
            <a:custGeom>
              <a:avLst/>
              <a:gdLst/>
              <a:ahLst/>
              <a:cxnLst/>
              <a:rect l="l" t="t" r="r" b="b"/>
              <a:pathLst>
                <a:path w="2600960" h="1560576">
                  <a:moveTo>
                    <a:pt x="0" y="260096"/>
                  </a:moveTo>
                  <a:cubicBezTo>
                    <a:pt x="0" y="116459"/>
                    <a:pt x="117475" y="0"/>
                    <a:pt x="262509" y="0"/>
                  </a:cubicBezTo>
                  <a:lnTo>
                    <a:pt x="2338451" y="0"/>
                  </a:lnTo>
                  <a:cubicBezTo>
                    <a:pt x="2483358" y="0"/>
                    <a:pt x="2600960" y="116459"/>
                    <a:pt x="2600960" y="260096"/>
                  </a:cubicBezTo>
                  <a:lnTo>
                    <a:pt x="2600960" y="1300480"/>
                  </a:lnTo>
                  <a:cubicBezTo>
                    <a:pt x="2600960" y="1444117"/>
                    <a:pt x="2483485" y="1560576"/>
                    <a:pt x="2338451" y="1560576"/>
                  </a:cubicBezTo>
                  <a:lnTo>
                    <a:pt x="262509" y="1560576"/>
                  </a:lnTo>
                  <a:cubicBezTo>
                    <a:pt x="117602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EF5350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637028" cy="1596644"/>
            </a:xfrm>
            <a:custGeom>
              <a:avLst/>
              <a:gdLst/>
              <a:ahLst/>
              <a:cxnLst/>
              <a:rect l="l" t="t" r="r" b="b"/>
              <a:pathLst>
                <a:path w="2637028" h="1596644">
                  <a:moveTo>
                    <a:pt x="0" y="278130"/>
                  </a:moveTo>
                  <a:cubicBezTo>
                    <a:pt x="0" y="124333"/>
                    <a:pt x="125730" y="0"/>
                    <a:pt x="280543" y="0"/>
                  </a:cubicBezTo>
                  <a:lnTo>
                    <a:pt x="2356485" y="0"/>
                  </a:lnTo>
                  <a:lnTo>
                    <a:pt x="2356485" y="18034"/>
                  </a:lnTo>
                  <a:lnTo>
                    <a:pt x="2356485" y="0"/>
                  </a:lnTo>
                  <a:cubicBezTo>
                    <a:pt x="2511298" y="0"/>
                    <a:pt x="2637028" y="124333"/>
                    <a:pt x="2637028" y="278130"/>
                  </a:cubicBezTo>
                  <a:lnTo>
                    <a:pt x="2618994" y="278130"/>
                  </a:lnTo>
                  <a:lnTo>
                    <a:pt x="2637028" y="278130"/>
                  </a:lnTo>
                  <a:lnTo>
                    <a:pt x="2637028" y="1318514"/>
                  </a:lnTo>
                  <a:lnTo>
                    <a:pt x="2618994" y="1318514"/>
                  </a:lnTo>
                  <a:lnTo>
                    <a:pt x="2637028" y="1318514"/>
                  </a:lnTo>
                  <a:cubicBezTo>
                    <a:pt x="2637028" y="1472311"/>
                    <a:pt x="2511298" y="1596644"/>
                    <a:pt x="2356485" y="1596644"/>
                  </a:cubicBezTo>
                  <a:lnTo>
                    <a:pt x="2356485" y="1578610"/>
                  </a:lnTo>
                  <a:lnTo>
                    <a:pt x="2356485" y="1596644"/>
                  </a:lnTo>
                  <a:lnTo>
                    <a:pt x="280543" y="1596644"/>
                  </a:lnTo>
                  <a:lnTo>
                    <a:pt x="280543" y="1578610"/>
                  </a:lnTo>
                  <a:lnTo>
                    <a:pt x="280543" y="1596644"/>
                  </a:lnTo>
                  <a:cubicBezTo>
                    <a:pt x="125730" y="1596644"/>
                    <a:pt x="0" y="1472311"/>
                    <a:pt x="0" y="1318514"/>
                  </a:cubicBezTo>
                  <a:lnTo>
                    <a:pt x="0" y="278130"/>
                  </a:lnTo>
                  <a:lnTo>
                    <a:pt x="18034" y="278130"/>
                  </a:lnTo>
                  <a:lnTo>
                    <a:pt x="0" y="278130"/>
                  </a:lnTo>
                  <a:moveTo>
                    <a:pt x="36068" y="278130"/>
                  </a:moveTo>
                  <a:lnTo>
                    <a:pt x="36068" y="1318514"/>
                  </a:lnTo>
                  <a:lnTo>
                    <a:pt x="18034" y="1318514"/>
                  </a:lnTo>
                  <a:lnTo>
                    <a:pt x="36068" y="1318514"/>
                  </a:lnTo>
                  <a:cubicBezTo>
                    <a:pt x="36068" y="1451991"/>
                    <a:pt x="145288" y="1560576"/>
                    <a:pt x="280543" y="1560576"/>
                  </a:cubicBezTo>
                  <a:lnTo>
                    <a:pt x="2356485" y="1560576"/>
                  </a:lnTo>
                  <a:cubicBezTo>
                    <a:pt x="2491613" y="1560576"/>
                    <a:pt x="2600960" y="1452118"/>
                    <a:pt x="2600960" y="1318514"/>
                  </a:cubicBezTo>
                  <a:lnTo>
                    <a:pt x="2600960" y="278130"/>
                  </a:lnTo>
                  <a:cubicBezTo>
                    <a:pt x="2600960" y="144653"/>
                    <a:pt x="2491740" y="36068"/>
                    <a:pt x="2356485" y="36068"/>
                  </a:cubicBezTo>
                  <a:lnTo>
                    <a:pt x="280543" y="36068"/>
                  </a:lnTo>
                  <a:lnTo>
                    <a:pt x="280543" y="18034"/>
                  </a:lnTo>
                  <a:lnTo>
                    <a:pt x="280543" y="36068"/>
                  </a:lnTo>
                  <a:cubicBezTo>
                    <a:pt x="145415" y="36068"/>
                    <a:pt x="36068" y="144653"/>
                    <a:pt x="36068" y="27813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37079" cy="164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0"/>
                </a:lnSpc>
              </a:pPr>
              <a:r>
                <a:rPr lang="en-US" sz="256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OpenMP</a:t>
              </a:r>
              <a:endParaRPr lang="en-US" sz="256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2181015" y="4375575"/>
            <a:ext cx="1977809" cy="1197521"/>
            <a:chOff x="0" y="0"/>
            <a:chExt cx="2637079" cy="1596695"/>
          </a:xfrm>
        </p:grpSpPr>
        <p:sp>
          <p:nvSpPr>
            <p:cNvPr id="18" name="Freeform 18"/>
            <p:cNvSpPr/>
            <p:nvPr/>
          </p:nvSpPr>
          <p:spPr>
            <a:xfrm>
              <a:off x="18034" y="18034"/>
              <a:ext cx="2600960" cy="1560576"/>
            </a:xfrm>
            <a:custGeom>
              <a:avLst/>
              <a:gdLst/>
              <a:ahLst/>
              <a:cxnLst/>
              <a:rect l="l" t="t" r="r" b="b"/>
              <a:pathLst>
                <a:path w="2600960" h="1560576">
                  <a:moveTo>
                    <a:pt x="0" y="260096"/>
                  </a:moveTo>
                  <a:cubicBezTo>
                    <a:pt x="0" y="116459"/>
                    <a:pt x="117475" y="0"/>
                    <a:pt x="262509" y="0"/>
                  </a:cubicBezTo>
                  <a:lnTo>
                    <a:pt x="2338451" y="0"/>
                  </a:lnTo>
                  <a:cubicBezTo>
                    <a:pt x="2483358" y="0"/>
                    <a:pt x="2600960" y="116459"/>
                    <a:pt x="2600960" y="260096"/>
                  </a:cubicBezTo>
                  <a:lnTo>
                    <a:pt x="2600960" y="1300480"/>
                  </a:lnTo>
                  <a:cubicBezTo>
                    <a:pt x="2600960" y="1444117"/>
                    <a:pt x="2483485" y="1560576"/>
                    <a:pt x="2338451" y="1560576"/>
                  </a:cubicBezTo>
                  <a:lnTo>
                    <a:pt x="262509" y="1560576"/>
                  </a:lnTo>
                  <a:cubicBezTo>
                    <a:pt x="117602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FFA726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637028" cy="1596644"/>
            </a:xfrm>
            <a:custGeom>
              <a:avLst/>
              <a:gdLst/>
              <a:ahLst/>
              <a:cxnLst/>
              <a:rect l="l" t="t" r="r" b="b"/>
              <a:pathLst>
                <a:path w="2637028" h="1596644">
                  <a:moveTo>
                    <a:pt x="0" y="278130"/>
                  </a:moveTo>
                  <a:cubicBezTo>
                    <a:pt x="0" y="124333"/>
                    <a:pt x="125730" y="0"/>
                    <a:pt x="280543" y="0"/>
                  </a:cubicBezTo>
                  <a:lnTo>
                    <a:pt x="2356485" y="0"/>
                  </a:lnTo>
                  <a:lnTo>
                    <a:pt x="2356485" y="18034"/>
                  </a:lnTo>
                  <a:lnTo>
                    <a:pt x="2356485" y="0"/>
                  </a:lnTo>
                  <a:cubicBezTo>
                    <a:pt x="2511298" y="0"/>
                    <a:pt x="2637028" y="124333"/>
                    <a:pt x="2637028" y="278130"/>
                  </a:cubicBezTo>
                  <a:lnTo>
                    <a:pt x="2618994" y="278130"/>
                  </a:lnTo>
                  <a:lnTo>
                    <a:pt x="2637028" y="278130"/>
                  </a:lnTo>
                  <a:lnTo>
                    <a:pt x="2637028" y="1318514"/>
                  </a:lnTo>
                  <a:lnTo>
                    <a:pt x="2618994" y="1318514"/>
                  </a:lnTo>
                  <a:lnTo>
                    <a:pt x="2637028" y="1318514"/>
                  </a:lnTo>
                  <a:cubicBezTo>
                    <a:pt x="2637028" y="1472311"/>
                    <a:pt x="2511298" y="1596644"/>
                    <a:pt x="2356485" y="1596644"/>
                  </a:cubicBezTo>
                  <a:lnTo>
                    <a:pt x="2356485" y="1578610"/>
                  </a:lnTo>
                  <a:lnTo>
                    <a:pt x="2356485" y="1596644"/>
                  </a:lnTo>
                  <a:lnTo>
                    <a:pt x="280543" y="1596644"/>
                  </a:lnTo>
                  <a:lnTo>
                    <a:pt x="280543" y="1578610"/>
                  </a:lnTo>
                  <a:lnTo>
                    <a:pt x="280543" y="1596644"/>
                  </a:lnTo>
                  <a:cubicBezTo>
                    <a:pt x="125730" y="1596644"/>
                    <a:pt x="0" y="1472311"/>
                    <a:pt x="0" y="1318514"/>
                  </a:cubicBezTo>
                  <a:lnTo>
                    <a:pt x="0" y="278130"/>
                  </a:lnTo>
                  <a:lnTo>
                    <a:pt x="18034" y="278130"/>
                  </a:lnTo>
                  <a:lnTo>
                    <a:pt x="0" y="278130"/>
                  </a:lnTo>
                  <a:moveTo>
                    <a:pt x="36068" y="278130"/>
                  </a:moveTo>
                  <a:lnTo>
                    <a:pt x="36068" y="1318514"/>
                  </a:lnTo>
                  <a:lnTo>
                    <a:pt x="18034" y="1318514"/>
                  </a:lnTo>
                  <a:lnTo>
                    <a:pt x="36068" y="1318514"/>
                  </a:lnTo>
                  <a:cubicBezTo>
                    <a:pt x="36068" y="1451991"/>
                    <a:pt x="145288" y="1560576"/>
                    <a:pt x="280543" y="1560576"/>
                  </a:cubicBezTo>
                  <a:lnTo>
                    <a:pt x="2356485" y="1560576"/>
                  </a:lnTo>
                  <a:cubicBezTo>
                    <a:pt x="2491613" y="1560576"/>
                    <a:pt x="2600960" y="1452118"/>
                    <a:pt x="2600960" y="1318514"/>
                  </a:cubicBezTo>
                  <a:lnTo>
                    <a:pt x="2600960" y="278130"/>
                  </a:lnTo>
                  <a:cubicBezTo>
                    <a:pt x="2600960" y="144653"/>
                    <a:pt x="2491740" y="36068"/>
                    <a:pt x="2356485" y="36068"/>
                  </a:cubicBezTo>
                  <a:lnTo>
                    <a:pt x="280543" y="36068"/>
                  </a:lnTo>
                  <a:lnTo>
                    <a:pt x="280543" y="18034"/>
                  </a:lnTo>
                  <a:lnTo>
                    <a:pt x="280543" y="36068"/>
                  </a:lnTo>
                  <a:cubicBezTo>
                    <a:pt x="145415" y="36068"/>
                    <a:pt x="36068" y="144653"/>
                    <a:pt x="36068" y="27813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637079" cy="164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0"/>
                </a:lnSpc>
              </a:pPr>
              <a:r>
                <a:rPr lang="en-US" sz="256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MPI</a:t>
              </a:r>
              <a:endParaRPr lang="en-US" sz="256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5350935" y="4375575"/>
            <a:ext cx="1977809" cy="1197521"/>
            <a:chOff x="0" y="0"/>
            <a:chExt cx="2637079" cy="1596695"/>
          </a:xfrm>
        </p:grpSpPr>
        <p:sp>
          <p:nvSpPr>
            <p:cNvPr id="22" name="Freeform 22"/>
            <p:cNvSpPr/>
            <p:nvPr/>
          </p:nvSpPr>
          <p:spPr>
            <a:xfrm>
              <a:off x="18034" y="18034"/>
              <a:ext cx="2600960" cy="1560576"/>
            </a:xfrm>
            <a:custGeom>
              <a:avLst/>
              <a:gdLst/>
              <a:ahLst/>
              <a:cxnLst/>
              <a:rect l="l" t="t" r="r" b="b"/>
              <a:pathLst>
                <a:path w="2600960" h="1560576">
                  <a:moveTo>
                    <a:pt x="0" y="260096"/>
                  </a:moveTo>
                  <a:cubicBezTo>
                    <a:pt x="0" y="116459"/>
                    <a:pt x="117475" y="0"/>
                    <a:pt x="262509" y="0"/>
                  </a:cubicBezTo>
                  <a:lnTo>
                    <a:pt x="2338451" y="0"/>
                  </a:lnTo>
                  <a:cubicBezTo>
                    <a:pt x="2483358" y="0"/>
                    <a:pt x="2600960" y="116459"/>
                    <a:pt x="2600960" y="260096"/>
                  </a:cubicBezTo>
                  <a:lnTo>
                    <a:pt x="2600960" y="1300480"/>
                  </a:lnTo>
                  <a:cubicBezTo>
                    <a:pt x="2600960" y="1444117"/>
                    <a:pt x="2483485" y="1560576"/>
                    <a:pt x="2338451" y="1560576"/>
                  </a:cubicBezTo>
                  <a:lnTo>
                    <a:pt x="262509" y="1560576"/>
                  </a:lnTo>
                  <a:cubicBezTo>
                    <a:pt x="117602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66BB6A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2637028" cy="1596644"/>
            </a:xfrm>
            <a:custGeom>
              <a:avLst/>
              <a:gdLst/>
              <a:ahLst/>
              <a:cxnLst/>
              <a:rect l="l" t="t" r="r" b="b"/>
              <a:pathLst>
                <a:path w="2637028" h="1596644">
                  <a:moveTo>
                    <a:pt x="0" y="278130"/>
                  </a:moveTo>
                  <a:cubicBezTo>
                    <a:pt x="0" y="124333"/>
                    <a:pt x="125730" y="0"/>
                    <a:pt x="280543" y="0"/>
                  </a:cubicBezTo>
                  <a:lnTo>
                    <a:pt x="2356485" y="0"/>
                  </a:lnTo>
                  <a:lnTo>
                    <a:pt x="2356485" y="18034"/>
                  </a:lnTo>
                  <a:lnTo>
                    <a:pt x="2356485" y="0"/>
                  </a:lnTo>
                  <a:cubicBezTo>
                    <a:pt x="2511298" y="0"/>
                    <a:pt x="2637028" y="124333"/>
                    <a:pt x="2637028" y="278130"/>
                  </a:cubicBezTo>
                  <a:lnTo>
                    <a:pt x="2618994" y="278130"/>
                  </a:lnTo>
                  <a:lnTo>
                    <a:pt x="2637028" y="278130"/>
                  </a:lnTo>
                  <a:lnTo>
                    <a:pt x="2637028" y="1318514"/>
                  </a:lnTo>
                  <a:lnTo>
                    <a:pt x="2618994" y="1318514"/>
                  </a:lnTo>
                  <a:lnTo>
                    <a:pt x="2637028" y="1318514"/>
                  </a:lnTo>
                  <a:cubicBezTo>
                    <a:pt x="2637028" y="1472311"/>
                    <a:pt x="2511298" y="1596644"/>
                    <a:pt x="2356485" y="1596644"/>
                  </a:cubicBezTo>
                  <a:lnTo>
                    <a:pt x="2356485" y="1578610"/>
                  </a:lnTo>
                  <a:lnTo>
                    <a:pt x="2356485" y="1596644"/>
                  </a:lnTo>
                  <a:lnTo>
                    <a:pt x="280543" y="1596644"/>
                  </a:lnTo>
                  <a:lnTo>
                    <a:pt x="280543" y="1578610"/>
                  </a:lnTo>
                  <a:lnTo>
                    <a:pt x="280543" y="1596644"/>
                  </a:lnTo>
                  <a:cubicBezTo>
                    <a:pt x="125730" y="1596644"/>
                    <a:pt x="0" y="1472311"/>
                    <a:pt x="0" y="1318514"/>
                  </a:cubicBezTo>
                  <a:lnTo>
                    <a:pt x="0" y="278130"/>
                  </a:lnTo>
                  <a:lnTo>
                    <a:pt x="18034" y="278130"/>
                  </a:lnTo>
                  <a:lnTo>
                    <a:pt x="0" y="278130"/>
                  </a:lnTo>
                  <a:moveTo>
                    <a:pt x="36068" y="278130"/>
                  </a:moveTo>
                  <a:lnTo>
                    <a:pt x="36068" y="1318514"/>
                  </a:lnTo>
                  <a:lnTo>
                    <a:pt x="18034" y="1318514"/>
                  </a:lnTo>
                  <a:lnTo>
                    <a:pt x="36068" y="1318514"/>
                  </a:lnTo>
                  <a:cubicBezTo>
                    <a:pt x="36068" y="1451991"/>
                    <a:pt x="145288" y="1560576"/>
                    <a:pt x="280543" y="1560576"/>
                  </a:cubicBezTo>
                  <a:lnTo>
                    <a:pt x="2356485" y="1560576"/>
                  </a:lnTo>
                  <a:cubicBezTo>
                    <a:pt x="2491613" y="1560576"/>
                    <a:pt x="2600960" y="1452118"/>
                    <a:pt x="2600960" y="1318514"/>
                  </a:cubicBezTo>
                  <a:lnTo>
                    <a:pt x="2600960" y="278130"/>
                  </a:lnTo>
                  <a:cubicBezTo>
                    <a:pt x="2600960" y="144653"/>
                    <a:pt x="2491740" y="36068"/>
                    <a:pt x="2356485" y="36068"/>
                  </a:cubicBezTo>
                  <a:lnTo>
                    <a:pt x="280543" y="36068"/>
                  </a:lnTo>
                  <a:lnTo>
                    <a:pt x="280543" y="18034"/>
                  </a:lnTo>
                  <a:lnTo>
                    <a:pt x="280543" y="36068"/>
                  </a:lnTo>
                  <a:cubicBezTo>
                    <a:pt x="145415" y="36068"/>
                    <a:pt x="36068" y="144653"/>
                    <a:pt x="36068" y="27813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637079" cy="1644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0"/>
                </a:lnSpc>
              </a:pPr>
              <a:r>
                <a:rPr lang="en-US" sz="256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UDP</a:t>
              </a:r>
              <a:endParaRPr lang="en-US" sz="256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37E">
                <a:alpha val="100000"/>
              </a:srgbClr>
            </a:gs>
            <a:gs pos="100000">
              <a:srgbClr val="00838F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95072" y="4876800"/>
            <a:ext cx="1463040" cy="1950720"/>
            <a:chOff x="0" y="0"/>
            <a:chExt cx="195072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" cy="2600960"/>
            </a:xfrm>
            <a:custGeom>
              <a:avLst/>
              <a:gdLst/>
              <a:ahLst/>
              <a:cxnLst/>
              <a:rect l="l" t="t" r="r" b="b"/>
              <a:pathLst>
                <a:path w="1950720" h="2600960">
                  <a:moveTo>
                    <a:pt x="0" y="325120"/>
                  </a:moveTo>
                  <a:cubicBezTo>
                    <a:pt x="0" y="145542"/>
                    <a:pt x="145542" y="0"/>
                    <a:pt x="325120" y="0"/>
                  </a:cubicBezTo>
                  <a:lnTo>
                    <a:pt x="1625600" y="0"/>
                  </a:lnTo>
                  <a:cubicBezTo>
                    <a:pt x="1805178" y="0"/>
                    <a:pt x="1950720" y="145542"/>
                    <a:pt x="1950720" y="325120"/>
                  </a:cubicBezTo>
                  <a:lnTo>
                    <a:pt x="1950720" y="2275840"/>
                  </a:lnTo>
                  <a:cubicBezTo>
                    <a:pt x="1950720" y="2455418"/>
                    <a:pt x="1805178" y="2600960"/>
                    <a:pt x="1625600" y="2600960"/>
                  </a:cubicBezTo>
                  <a:lnTo>
                    <a:pt x="325120" y="2600960"/>
                  </a:lnTo>
                  <a:cubicBezTo>
                    <a:pt x="145542" y="2600960"/>
                    <a:pt x="0" y="2455418"/>
                    <a:pt x="0" y="227584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images (1).png"/>
          <p:cNvSpPr/>
          <p:nvPr/>
        </p:nvSpPr>
        <p:spPr>
          <a:xfrm>
            <a:off x="7022592" y="195072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0" y="0"/>
                </a:moveTo>
                <a:lnTo>
                  <a:pt x="2438400" y="0"/>
                </a:lnTo>
                <a:lnTo>
                  <a:pt x="24384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⚙️ Serial Execution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58240" y="1744218"/>
            <a:ext cx="557784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Single-Core Processing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Runs on single core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Tasks executed one after another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No parallelism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Characteristics: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Simple to write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Easy to debug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✗ Slow for large datasets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11B92">
                <a:alpha val="100000"/>
              </a:srgbClr>
            </a:gs>
            <a:gs pos="100000">
              <a:srgbClr val="006064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315200" y="4389120"/>
            <a:ext cx="2438400" cy="2438400"/>
            <a:chOff x="0" y="0"/>
            <a:chExt cx="3251200" cy="325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🧵 Pthreads Implementation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5920" y="1744218"/>
            <a:ext cx="655320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Thread-Level Parallelism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Uses multiple threads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Threads share the same memory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Dataset is divided among threads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How it works: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Manual thread creation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Explicit synchronization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High control, high complexity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0E4F">
                <a:alpha val="100000"/>
              </a:srgbClr>
            </a:gs>
            <a:gs pos="100000">
              <a:srgbClr val="1A237E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802880" y="487680"/>
            <a:ext cx="1950720" cy="1950720"/>
            <a:chOff x="0" y="0"/>
            <a:chExt cx="260096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0960" cy="2600960"/>
            </a:xfrm>
            <a:custGeom>
              <a:avLst/>
              <a:gdLst/>
              <a:ahLst/>
              <a:cxnLst/>
              <a:rect l="l" t="t" r="r" b="b"/>
              <a:pathLst>
                <a:path w="2600960" h="2600960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2167509" y="0"/>
                  </a:lnTo>
                  <a:cubicBezTo>
                    <a:pt x="2406904" y="0"/>
                    <a:pt x="2600960" y="194056"/>
                    <a:pt x="2600960" y="433451"/>
                  </a:cubicBezTo>
                  <a:lnTo>
                    <a:pt x="2600960" y="2167509"/>
                  </a:lnTo>
                  <a:cubicBezTo>
                    <a:pt x="2600960" y="2406904"/>
                    <a:pt x="2406904" y="2600960"/>
                    <a:pt x="2167509" y="2600960"/>
                  </a:cubicBezTo>
                  <a:lnTo>
                    <a:pt x="433451" y="2600960"/>
                  </a:lnTo>
                  <a:cubicBezTo>
                    <a:pt x="194056" y="2600960"/>
                    <a:pt x="0" y="2406904"/>
                    <a:pt x="0" y="2167509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images.png"/>
          <p:cNvSpPr/>
          <p:nvPr/>
        </p:nvSpPr>
        <p:spPr>
          <a:xfrm>
            <a:off x="326746" y="5126126"/>
            <a:ext cx="1848307" cy="1848307"/>
          </a:xfrm>
          <a:custGeom>
            <a:avLst/>
            <a:gdLst/>
            <a:ahLst/>
            <a:cxnLst/>
            <a:rect l="l" t="t" r="r" b="b"/>
            <a:pathLst>
              <a:path w="1848307" h="1848307">
                <a:moveTo>
                  <a:pt x="0" y="0"/>
                </a:moveTo>
                <a:lnTo>
                  <a:pt x="1848307" y="0"/>
                </a:lnTo>
                <a:lnTo>
                  <a:pt x="1848307" y="1848308"/>
                </a:lnTo>
                <a:lnTo>
                  <a:pt x="0" y="184830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🔄 OpenMP Implementation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040" y="1207770"/>
            <a:ext cx="606552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Compiler-Based Parallelism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Uses pragma directives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Automatically handles threads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Best for loop-level parallelism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Key Point: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Same serial code + small changes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Faster development compared to Pthreads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Efficient and easy to implement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47A1">
                <a:alpha val="100000"/>
              </a:srgbClr>
            </a:gs>
            <a:gs pos="100000">
              <a:srgbClr val="D81B60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43840" y="-149352"/>
            <a:ext cx="1950720" cy="1950720"/>
            <a:chOff x="0" y="0"/>
            <a:chExt cx="260096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0960" cy="2600960"/>
            </a:xfrm>
            <a:custGeom>
              <a:avLst/>
              <a:gdLst/>
              <a:ahLst/>
              <a:cxnLst/>
              <a:rect l="l" t="t" r="r" b="b"/>
              <a:pathLst>
                <a:path w="2600960" h="2600960">
                  <a:moveTo>
                    <a:pt x="0" y="1300480"/>
                  </a:moveTo>
                  <a:cubicBezTo>
                    <a:pt x="0" y="582295"/>
                    <a:pt x="582295" y="0"/>
                    <a:pt x="1300480" y="0"/>
                  </a:cubicBezTo>
                  <a:cubicBezTo>
                    <a:pt x="2018665" y="0"/>
                    <a:pt x="2600960" y="582295"/>
                    <a:pt x="2600960" y="1300480"/>
                  </a:cubicBezTo>
                  <a:cubicBezTo>
                    <a:pt x="2600960" y="2018665"/>
                    <a:pt x="2018665" y="2600960"/>
                    <a:pt x="1300480" y="2600960"/>
                  </a:cubicBezTo>
                  <a:cubicBezTo>
                    <a:pt x="582295" y="2600960"/>
                    <a:pt x="0" y="2018665"/>
                    <a:pt x="0" y="130048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distributed-computing-icon-vector.jpg"/>
          <p:cNvSpPr/>
          <p:nvPr/>
        </p:nvSpPr>
        <p:spPr>
          <a:xfrm>
            <a:off x="7315200" y="4389120"/>
            <a:ext cx="2145792" cy="2145792"/>
          </a:xfrm>
          <a:custGeom>
            <a:avLst/>
            <a:gdLst/>
            <a:ahLst/>
            <a:cxnLst/>
            <a:rect l="l" t="t" r="r" b="b"/>
            <a:pathLst>
              <a:path w="2145792" h="2145792">
                <a:moveTo>
                  <a:pt x="0" y="0"/>
                </a:moveTo>
                <a:lnTo>
                  <a:pt x="2145792" y="0"/>
                </a:lnTo>
                <a:lnTo>
                  <a:pt x="2145792" y="2145792"/>
                </a:lnTo>
                <a:lnTo>
                  <a:pt x="0" y="214579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🌐 MPI Implementation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58240" y="1744218"/>
            <a:ext cx="606552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Distributed Computing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Runs on multiple processes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Each process has its own memory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Communication via message passing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Used for: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Multi-machine execution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Large-scale distributed systems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Best scalability for clusters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>
                <a:alpha val="100000"/>
              </a:srgbClr>
            </a:gs>
            <a:gs pos="100000">
              <a:srgbClr val="6A1B9A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516583" y="5969634"/>
            <a:ext cx="2046822" cy="1228093"/>
            <a:chOff x="0" y="0"/>
            <a:chExt cx="3251200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1950720"/>
            </a:xfrm>
            <a:custGeom>
              <a:avLst/>
              <a:gdLst/>
              <a:ahLst/>
              <a:cxnLst/>
              <a:rect l="l" t="t" r="r" b="b"/>
              <a:pathLst>
                <a:path w="3251200" h="1950720">
                  <a:moveTo>
                    <a:pt x="0" y="325120"/>
                  </a:moveTo>
                  <a:cubicBezTo>
                    <a:pt x="0" y="145542"/>
                    <a:pt x="145542" y="0"/>
                    <a:pt x="325120" y="0"/>
                  </a:cubicBezTo>
                  <a:lnTo>
                    <a:pt x="2926080" y="0"/>
                  </a:lnTo>
                  <a:cubicBezTo>
                    <a:pt x="3105658" y="0"/>
                    <a:pt x="3251200" y="145542"/>
                    <a:pt x="3251200" y="325120"/>
                  </a:cubicBezTo>
                  <a:lnTo>
                    <a:pt x="3251200" y="1625600"/>
                  </a:lnTo>
                  <a:cubicBezTo>
                    <a:pt x="3251200" y="1805178"/>
                    <a:pt x="3105658" y="1950720"/>
                    <a:pt x="2926080" y="1950720"/>
                  </a:cubicBezTo>
                  <a:lnTo>
                    <a:pt x="325120" y="1950720"/>
                  </a:lnTo>
                  <a:cubicBezTo>
                    <a:pt x="145542" y="1950720"/>
                    <a:pt x="0" y="1805178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📈 Performance Comparison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463040" y="2145792"/>
            <a:ext cx="2438400" cy="682752"/>
            <a:chOff x="0" y="0"/>
            <a:chExt cx="3251200" cy="9103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1200" cy="910336"/>
            </a:xfrm>
            <a:custGeom>
              <a:avLst/>
              <a:gdLst/>
              <a:ahLst/>
              <a:cxnLst/>
              <a:rect l="l" t="t" r="r" b="b"/>
              <a:pathLst>
                <a:path w="3251200" h="910336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3099435" y="0"/>
                  </a:lnTo>
                  <a:cubicBezTo>
                    <a:pt x="3183255" y="0"/>
                    <a:pt x="3251200" y="67945"/>
                    <a:pt x="3251200" y="151765"/>
                  </a:cubicBezTo>
                  <a:lnTo>
                    <a:pt x="3251200" y="758571"/>
                  </a:lnTo>
                  <a:cubicBezTo>
                    <a:pt x="3251200" y="842391"/>
                    <a:pt x="3183255" y="910336"/>
                    <a:pt x="3099435" y="910336"/>
                  </a:cubicBezTo>
                  <a:lnTo>
                    <a:pt x="151765" y="910336"/>
                  </a:lnTo>
                  <a:cubicBezTo>
                    <a:pt x="67945" y="910336"/>
                    <a:pt x="0" y="842391"/>
                    <a:pt x="0" y="758571"/>
                  </a:cubicBezTo>
                  <a:close/>
                </a:path>
              </a:pathLst>
            </a:custGeom>
            <a:solidFill>
              <a:srgbClr val="9E9E9E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251200" cy="95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60"/>
                </a:lnSpc>
              </a:pPr>
              <a:r>
                <a:rPr lang="en-US" sz="213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Serial</a:t>
              </a:r>
              <a:endParaRPr lang="en-US" sz="213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4375575" y="2132247"/>
            <a:ext cx="3440849" cy="709845"/>
            <a:chOff x="0" y="0"/>
            <a:chExt cx="4587799" cy="946460"/>
          </a:xfrm>
        </p:grpSpPr>
        <p:sp>
          <p:nvSpPr>
            <p:cNvPr id="9" name="Freeform 9"/>
            <p:cNvSpPr/>
            <p:nvPr/>
          </p:nvSpPr>
          <p:spPr>
            <a:xfrm>
              <a:off x="18034" y="18034"/>
              <a:ext cx="4551680" cy="910468"/>
            </a:xfrm>
            <a:custGeom>
              <a:avLst/>
              <a:gdLst/>
              <a:ahLst/>
              <a:cxnLst/>
              <a:rect l="l" t="t" r="r" b="b"/>
              <a:pathLst>
                <a:path w="4551680" h="910468">
                  <a:moveTo>
                    <a:pt x="0" y="151766"/>
                  </a:moveTo>
                  <a:cubicBezTo>
                    <a:pt x="0" y="67946"/>
                    <a:pt x="70104" y="0"/>
                    <a:pt x="156464" y="0"/>
                  </a:cubicBezTo>
                  <a:lnTo>
                    <a:pt x="4395216" y="0"/>
                  </a:lnTo>
                  <a:cubicBezTo>
                    <a:pt x="4481703" y="0"/>
                    <a:pt x="4551680" y="67946"/>
                    <a:pt x="4551680" y="151766"/>
                  </a:cubicBezTo>
                  <a:lnTo>
                    <a:pt x="4551680" y="758703"/>
                  </a:lnTo>
                  <a:cubicBezTo>
                    <a:pt x="4551680" y="842523"/>
                    <a:pt x="4481576" y="910469"/>
                    <a:pt x="4395216" y="910469"/>
                  </a:cubicBezTo>
                  <a:lnTo>
                    <a:pt x="156591" y="910469"/>
                  </a:lnTo>
                  <a:cubicBezTo>
                    <a:pt x="70104" y="910469"/>
                    <a:pt x="127" y="842523"/>
                    <a:pt x="127" y="758703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587875" cy="946537"/>
            </a:xfrm>
            <a:custGeom>
              <a:avLst/>
              <a:gdLst/>
              <a:ahLst/>
              <a:cxnLst/>
              <a:rect l="l" t="t" r="r" b="b"/>
              <a:pathLst>
                <a:path w="4587875" h="946537">
                  <a:moveTo>
                    <a:pt x="0" y="169800"/>
                  </a:moveTo>
                  <a:cubicBezTo>
                    <a:pt x="0" y="75438"/>
                    <a:pt x="78740" y="0"/>
                    <a:pt x="174625" y="0"/>
                  </a:cubicBezTo>
                  <a:lnTo>
                    <a:pt x="4413250" y="0"/>
                  </a:lnTo>
                  <a:lnTo>
                    <a:pt x="4413250" y="18034"/>
                  </a:lnTo>
                  <a:lnTo>
                    <a:pt x="4413250" y="0"/>
                  </a:lnTo>
                  <a:cubicBezTo>
                    <a:pt x="4509135" y="0"/>
                    <a:pt x="4587875" y="75438"/>
                    <a:pt x="4587875" y="169800"/>
                  </a:cubicBezTo>
                  <a:lnTo>
                    <a:pt x="4569841" y="169800"/>
                  </a:lnTo>
                  <a:lnTo>
                    <a:pt x="4587875" y="169800"/>
                  </a:lnTo>
                  <a:lnTo>
                    <a:pt x="4587875" y="776737"/>
                  </a:lnTo>
                  <a:lnTo>
                    <a:pt x="4569841" y="776737"/>
                  </a:lnTo>
                  <a:lnTo>
                    <a:pt x="4587875" y="776737"/>
                  </a:lnTo>
                  <a:cubicBezTo>
                    <a:pt x="4587875" y="870971"/>
                    <a:pt x="4509135" y="946537"/>
                    <a:pt x="4413250" y="946537"/>
                  </a:cubicBezTo>
                  <a:lnTo>
                    <a:pt x="4413250" y="928376"/>
                  </a:lnTo>
                  <a:lnTo>
                    <a:pt x="4413250" y="946410"/>
                  </a:lnTo>
                  <a:lnTo>
                    <a:pt x="174625" y="946410"/>
                  </a:lnTo>
                  <a:lnTo>
                    <a:pt x="174625" y="928376"/>
                  </a:lnTo>
                  <a:lnTo>
                    <a:pt x="174625" y="946410"/>
                  </a:lnTo>
                  <a:cubicBezTo>
                    <a:pt x="78740" y="946410"/>
                    <a:pt x="0" y="870971"/>
                    <a:pt x="0" y="776737"/>
                  </a:cubicBezTo>
                  <a:lnTo>
                    <a:pt x="0" y="169800"/>
                  </a:lnTo>
                  <a:lnTo>
                    <a:pt x="18034" y="169800"/>
                  </a:lnTo>
                  <a:lnTo>
                    <a:pt x="0" y="169800"/>
                  </a:lnTo>
                  <a:moveTo>
                    <a:pt x="36068" y="169800"/>
                  </a:moveTo>
                  <a:lnTo>
                    <a:pt x="36068" y="776737"/>
                  </a:lnTo>
                  <a:lnTo>
                    <a:pt x="18034" y="776737"/>
                  </a:lnTo>
                  <a:lnTo>
                    <a:pt x="36068" y="776737"/>
                  </a:lnTo>
                  <a:cubicBezTo>
                    <a:pt x="36068" y="850016"/>
                    <a:pt x="97536" y="910341"/>
                    <a:pt x="174498" y="910341"/>
                  </a:cubicBezTo>
                  <a:lnTo>
                    <a:pt x="4413250" y="910341"/>
                  </a:lnTo>
                  <a:cubicBezTo>
                    <a:pt x="4490212" y="910341"/>
                    <a:pt x="4551680" y="850016"/>
                    <a:pt x="4551680" y="776737"/>
                  </a:cubicBezTo>
                  <a:lnTo>
                    <a:pt x="4551680" y="169800"/>
                  </a:lnTo>
                  <a:cubicBezTo>
                    <a:pt x="4551680" y="96521"/>
                    <a:pt x="4490212" y="36195"/>
                    <a:pt x="4413250" y="36195"/>
                  </a:cubicBezTo>
                  <a:lnTo>
                    <a:pt x="174625" y="36195"/>
                  </a:lnTo>
                  <a:lnTo>
                    <a:pt x="174625" y="18034"/>
                  </a:lnTo>
                  <a:lnTo>
                    <a:pt x="174625" y="36068"/>
                  </a:lnTo>
                  <a:cubicBezTo>
                    <a:pt x="97663" y="36068"/>
                    <a:pt x="36195" y="96394"/>
                    <a:pt x="36195" y="169673"/>
                  </a:cubicBezTo>
                  <a:close/>
                </a:path>
              </a:pathLst>
            </a:custGeom>
            <a:solidFill>
              <a:srgbClr val="9E9E9E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587799" cy="99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0">
                  <a:solidFill>
                    <a:srgbClr val="030202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Baseline</a:t>
              </a:r>
              <a:endParaRPr lang="en-US" sz="1920">
                <a:solidFill>
                  <a:srgbClr val="030202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63040" y="3121152"/>
            <a:ext cx="2438400" cy="682752"/>
            <a:chOff x="0" y="0"/>
            <a:chExt cx="3251200" cy="9103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51200" cy="910336"/>
            </a:xfrm>
            <a:custGeom>
              <a:avLst/>
              <a:gdLst/>
              <a:ahLst/>
              <a:cxnLst/>
              <a:rect l="l" t="t" r="r" b="b"/>
              <a:pathLst>
                <a:path w="3251200" h="910336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3099435" y="0"/>
                  </a:lnTo>
                  <a:cubicBezTo>
                    <a:pt x="3183255" y="0"/>
                    <a:pt x="3251200" y="67945"/>
                    <a:pt x="3251200" y="151765"/>
                  </a:cubicBezTo>
                  <a:lnTo>
                    <a:pt x="3251200" y="758571"/>
                  </a:lnTo>
                  <a:cubicBezTo>
                    <a:pt x="3251200" y="842391"/>
                    <a:pt x="3183255" y="910336"/>
                    <a:pt x="3099435" y="910336"/>
                  </a:cubicBezTo>
                  <a:lnTo>
                    <a:pt x="151765" y="910336"/>
                  </a:lnTo>
                  <a:cubicBezTo>
                    <a:pt x="67945" y="910336"/>
                    <a:pt x="0" y="842391"/>
                    <a:pt x="0" y="758571"/>
                  </a:cubicBezTo>
                  <a:close/>
                </a:path>
              </a:pathLst>
            </a:custGeom>
            <a:solidFill>
              <a:srgbClr val="AB47BC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251200" cy="95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60"/>
                </a:lnSpc>
              </a:pPr>
              <a:r>
                <a:rPr lang="en-US" sz="213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Pthreads</a:t>
              </a:r>
              <a:endParaRPr lang="en-US" sz="213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4375575" y="3107607"/>
            <a:ext cx="3440849" cy="709845"/>
            <a:chOff x="0" y="0"/>
            <a:chExt cx="4587799" cy="946460"/>
          </a:xfrm>
        </p:grpSpPr>
        <p:sp>
          <p:nvSpPr>
            <p:cNvPr id="16" name="Freeform 16"/>
            <p:cNvSpPr/>
            <p:nvPr/>
          </p:nvSpPr>
          <p:spPr>
            <a:xfrm>
              <a:off x="18034" y="18034"/>
              <a:ext cx="4551680" cy="910468"/>
            </a:xfrm>
            <a:custGeom>
              <a:avLst/>
              <a:gdLst/>
              <a:ahLst/>
              <a:cxnLst/>
              <a:rect l="l" t="t" r="r" b="b"/>
              <a:pathLst>
                <a:path w="4551680" h="910468">
                  <a:moveTo>
                    <a:pt x="0" y="151766"/>
                  </a:moveTo>
                  <a:cubicBezTo>
                    <a:pt x="0" y="67946"/>
                    <a:pt x="70104" y="0"/>
                    <a:pt x="156464" y="0"/>
                  </a:cubicBezTo>
                  <a:lnTo>
                    <a:pt x="4395216" y="0"/>
                  </a:lnTo>
                  <a:cubicBezTo>
                    <a:pt x="4481703" y="0"/>
                    <a:pt x="4551680" y="67946"/>
                    <a:pt x="4551680" y="151766"/>
                  </a:cubicBezTo>
                  <a:lnTo>
                    <a:pt x="4551680" y="758703"/>
                  </a:lnTo>
                  <a:cubicBezTo>
                    <a:pt x="4551680" y="842523"/>
                    <a:pt x="4481576" y="910469"/>
                    <a:pt x="4395216" y="910469"/>
                  </a:cubicBezTo>
                  <a:lnTo>
                    <a:pt x="156591" y="910469"/>
                  </a:lnTo>
                  <a:cubicBezTo>
                    <a:pt x="70104" y="910469"/>
                    <a:pt x="127" y="842523"/>
                    <a:pt x="127" y="758703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4587875" cy="946537"/>
            </a:xfrm>
            <a:custGeom>
              <a:avLst/>
              <a:gdLst/>
              <a:ahLst/>
              <a:cxnLst/>
              <a:rect l="l" t="t" r="r" b="b"/>
              <a:pathLst>
                <a:path w="4587875" h="946537">
                  <a:moveTo>
                    <a:pt x="0" y="169800"/>
                  </a:moveTo>
                  <a:cubicBezTo>
                    <a:pt x="0" y="75438"/>
                    <a:pt x="78740" y="0"/>
                    <a:pt x="174625" y="0"/>
                  </a:cubicBezTo>
                  <a:lnTo>
                    <a:pt x="4413250" y="0"/>
                  </a:lnTo>
                  <a:lnTo>
                    <a:pt x="4413250" y="18034"/>
                  </a:lnTo>
                  <a:lnTo>
                    <a:pt x="4413250" y="0"/>
                  </a:lnTo>
                  <a:cubicBezTo>
                    <a:pt x="4509135" y="0"/>
                    <a:pt x="4587875" y="75438"/>
                    <a:pt x="4587875" y="169800"/>
                  </a:cubicBezTo>
                  <a:lnTo>
                    <a:pt x="4569841" y="169800"/>
                  </a:lnTo>
                  <a:lnTo>
                    <a:pt x="4587875" y="169800"/>
                  </a:lnTo>
                  <a:lnTo>
                    <a:pt x="4587875" y="776737"/>
                  </a:lnTo>
                  <a:lnTo>
                    <a:pt x="4569841" y="776737"/>
                  </a:lnTo>
                  <a:lnTo>
                    <a:pt x="4587875" y="776737"/>
                  </a:lnTo>
                  <a:cubicBezTo>
                    <a:pt x="4587875" y="870971"/>
                    <a:pt x="4509135" y="946537"/>
                    <a:pt x="4413250" y="946537"/>
                  </a:cubicBezTo>
                  <a:lnTo>
                    <a:pt x="4413250" y="928376"/>
                  </a:lnTo>
                  <a:lnTo>
                    <a:pt x="4413250" y="946410"/>
                  </a:lnTo>
                  <a:lnTo>
                    <a:pt x="174625" y="946410"/>
                  </a:lnTo>
                  <a:lnTo>
                    <a:pt x="174625" y="928376"/>
                  </a:lnTo>
                  <a:lnTo>
                    <a:pt x="174625" y="946410"/>
                  </a:lnTo>
                  <a:cubicBezTo>
                    <a:pt x="78740" y="946410"/>
                    <a:pt x="0" y="870971"/>
                    <a:pt x="0" y="776737"/>
                  </a:cubicBezTo>
                  <a:lnTo>
                    <a:pt x="0" y="169800"/>
                  </a:lnTo>
                  <a:lnTo>
                    <a:pt x="18034" y="169800"/>
                  </a:lnTo>
                  <a:lnTo>
                    <a:pt x="0" y="169800"/>
                  </a:lnTo>
                  <a:moveTo>
                    <a:pt x="36068" y="169800"/>
                  </a:moveTo>
                  <a:lnTo>
                    <a:pt x="36068" y="776737"/>
                  </a:lnTo>
                  <a:lnTo>
                    <a:pt x="18034" y="776737"/>
                  </a:lnTo>
                  <a:lnTo>
                    <a:pt x="36068" y="776737"/>
                  </a:lnTo>
                  <a:cubicBezTo>
                    <a:pt x="36068" y="850016"/>
                    <a:pt x="97536" y="910341"/>
                    <a:pt x="174498" y="910341"/>
                  </a:cubicBezTo>
                  <a:lnTo>
                    <a:pt x="4413250" y="910341"/>
                  </a:lnTo>
                  <a:cubicBezTo>
                    <a:pt x="4490212" y="910341"/>
                    <a:pt x="4551680" y="850016"/>
                    <a:pt x="4551680" y="776737"/>
                  </a:cubicBezTo>
                  <a:lnTo>
                    <a:pt x="4551680" y="169800"/>
                  </a:lnTo>
                  <a:cubicBezTo>
                    <a:pt x="4551680" y="96521"/>
                    <a:pt x="4490212" y="36195"/>
                    <a:pt x="4413250" y="36195"/>
                  </a:cubicBezTo>
                  <a:lnTo>
                    <a:pt x="174625" y="36195"/>
                  </a:lnTo>
                  <a:lnTo>
                    <a:pt x="174625" y="18034"/>
                  </a:lnTo>
                  <a:lnTo>
                    <a:pt x="174625" y="36068"/>
                  </a:lnTo>
                  <a:cubicBezTo>
                    <a:pt x="97663" y="36068"/>
                    <a:pt x="36195" y="96394"/>
                    <a:pt x="36195" y="169673"/>
                  </a:cubicBezTo>
                  <a:close/>
                </a:path>
              </a:pathLst>
            </a:custGeom>
            <a:solidFill>
              <a:srgbClr val="AB47BC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7799" cy="99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0">
                  <a:solidFill>
                    <a:srgbClr val="030202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Fast</a:t>
              </a:r>
              <a:endParaRPr lang="en-US" sz="1920">
                <a:solidFill>
                  <a:srgbClr val="030202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463040" y="4096512"/>
            <a:ext cx="2438400" cy="682752"/>
            <a:chOff x="0" y="0"/>
            <a:chExt cx="3251200" cy="9103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51200" cy="910336"/>
            </a:xfrm>
            <a:custGeom>
              <a:avLst/>
              <a:gdLst/>
              <a:ahLst/>
              <a:cxnLst/>
              <a:rect l="l" t="t" r="r" b="b"/>
              <a:pathLst>
                <a:path w="3251200" h="910336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3099435" y="0"/>
                  </a:lnTo>
                  <a:cubicBezTo>
                    <a:pt x="3183255" y="0"/>
                    <a:pt x="3251200" y="67945"/>
                    <a:pt x="3251200" y="151765"/>
                  </a:cubicBezTo>
                  <a:lnTo>
                    <a:pt x="3251200" y="758571"/>
                  </a:lnTo>
                  <a:cubicBezTo>
                    <a:pt x="3251200" y="842391"/>
                    <a:pt x="3183255" y="910336"/>
                    <a:pt x="3099435" y="910336"/>
                  </a:cubicBezTo>
                  <a:lnTo>
                    <a:pt x="151765" y="910336"/>
                  </a:lnTo>
                  <a:cubicBezTo>
                    <a:pt x="67945" y="910336"/>
                    <a:pt x="0" y="842391"/>
                    <a:pt x="0" y="758571"/>
                  </a:cubicBezTo>
                  <a:close/>
                </a:path>
              </a:pathLst>
            </a:custGeom>
            <a:solidFill>
              <a:srgbClr val="42A5F5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251200" cy="95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60"/>
                </a:lnSpc>
              </a:pPr>
              <a:r>
                <a:rPr lang="en-US" sz="213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OpenMP</a:t>
              </a:r>
              <a:endParaRPr lang="en-US" sz="213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4375575" y="4082967"/>
            <a:ext cx="3440849" cy="709845"/>
            <a:chOff x="0" y="0"/>
            <a:chExt cx="4587799" cy="946460"/>
          </a:xfrm>
        </p:grpSpPr>
        <p:sp>
          <p:nvSpPr>
            <p:cNvPr id="23" name="Freeform 23"/>
            <p:cNvSpPr/>
            <p:nvPr/>
          </p:nvSpPr>
          <p:spPr>
            <a:xfrm>
              <a:off x="18034" y="18034"/>
              <a:ext cx="4551680" cy="910468"/>
            </a:xfrm>
            <a:custGeom>
              <a:avLst/>
              <a:gdLst/>
              <a:ahLst/>
              <a:cxnLst/>
              <a:rect l="l" t="t" r="r" b="b"/>
              <a:pathLst>
                <a:path w="4551680" h="910468">
                  <a:moveTo>
                    <a:pt x="0" y="151766"/>
                  </a:moveTo>
                  <a:cubicBezTo>
                    <a:pt x="0" y="67946"/>
                    <a:pt x="70104" y="0"/>
                    <a:pt x="156464" y="0"/>
                  </a:cubicBezTo>
                  <a:lnTo>
                    <a:pt x="4395216" y="0"/>
                  </a:lnTo>
                  <a:cubicBezTo>
                    <a:pt x="4481703" y="0"/>
                    <a:pt x="4551680" y="67946"/>
                    <a:pt x="4551680" y="151766"/>
                  </a:cubicBezTo>
                  <a:lnTo>
                    <a:pt x="4551680" y="758703"/>
                  </a:lnTo>
                  <a:cubicBezTo>
                    <a:pt x="4551680" y="842523"/>
                    <a:pt x="4481576" y="910469"/>
                    <a:pt x="4395216" y="910469"/>
                  </a:cubicBezTo>
                  <a:lnTo>
                    <a:pt x="156591" y="910469"/>
                  </a:lnTo>
                  <a:cubicBezTo>
                    <a:pt x="70104" y="910469"/>
                    <a:pt x="127" y="842523"/>
                    <a:pt x="127" y="758703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4587875" cy="946537"/>
            </a:xfrm>
            <a:custGeom>
              <a:avLst/>
              <a:gdLst/>
              <a:ahLst/>
              <a:cxnLst/>
              <a:rect l="l" t="t" r="r" b="b"/>
              <a:pathLst>
                <a:path w="4587875" h="946537">
                  <a:moveTo>
                    <a:pt x="0" y="169800"/>
                  </a:moveTo>
                  <a:cubicBezTo>
                    <a:pt x="0" y="75438"/>
                    <a:pt x="78740" y="0"/>
                    <a:pt x="174625" y="0"/>
                  </a:cubicBezTo>
                  <a:lnTo>
                    <a:pt x="4413250" y="0"/>
                  </a:lnTo>
                  <a:lnTo>
                    <a:pt x="4413250" y="18034"/>
                  </a:lnTo>
                  <a:lnTo>
                    <a:pt x="4413250" y="0"/>
                  </a:lnTo>
                  <a:cubicBezTo>
                    <a:pt x="4509135" y="0"/>
                    <a:pt x="4587875" y="75438"/>
                    <a:pt x="4587875" y="169800"/>
                  </a:cubicBezTo>
                  <a:lnTo>
                    <a:pt x="4569841" y="169800"/>
                  </a:lnTo>
                  <a:lnTo>
                    <a:pt x="4587875" y="169800"/>
                  </a:lnTo>
                  <a:lnTo>
                    <a:pt x="4587875" y="776737"/>
                  </a:lnTo>
                  <a:lnTo>
                    <a:pt x="4569841" y="776737"/>
                  </a:lnTo>
                  <a:lnTo>
                    <a:pt x="4587875" y="776737"/>
                  </a:lnTo>
                  <a:cubicBezTo>
                    <a:pt x="4587875" y="870971"/>
                    <a:pt x="4509135" y="946537"/>
                    <a:pt x="4413250" y="946537"/>
                  </a:cubicBezTo>
                  <a:lnTo>
                    <a:pt x="4413250" y="928376"/>
                  </a:lnTo>
                  <a:lnTo>
                    <a:pt x="4413250" y="946410"/>
                  </a:lnTo>
                  <a:lnTo>
                    <a:pt x="174625" y="946410"/>
                  </a:lnTo>
                  <a:lnTo>
                    <a:pt x="174625" y="928376"/>
                  </a:lnTo>
                  <a:lnTo>
                    <a:pt x="174625" y="946410"/>
                  </a:lnTo>
                  <a:cubicBezTo>
                    <a:pt x="78740" y="946410"/>
                    <a:pt x="0" y="870971"/>
                    <a:pt x="0" y="776737"/>
                  </a:cubicBezTo>
                  <a:lnTo>
                    <a:pt x="0" y="169800"/>
                  </a:lnTo>
                  <a:lnTo>
                    <a:pt x="18034" y="169800"/>
                  </a:lnTo>
                  <a:lnTo>
                    <a:pt x="0" y="169800"/>
                  </a:lnTo>
                  <a:moveTo>
                    <a:pt x="36068" y="169800"/>
                  </a:moveTo>
                  <a:lnTo>
                    <a:pt x="36068" y="776737"/>
                  </a:lnTo>
                  <a:lnTo>
                    <a:pt x="18034" y="776737"/>
                  </a:lnTo>
                  <a:lnTo>
                    <a:pt x="36068" y="776737"/>
                  </a:lnTo>
                  <a:cubicBezTo>
                    <a:pt x="36068" y="850016"/>
                    <a:pt x="97536" y="910341"/>
                    <a:pt x="174498" y="910341"/>
                  </a:cubicBezTo>
                  <a:lnTo>
                    <a:pt x="4413250" y="910341"/>
                  </a:lnTo>
                  <a:cubicBezTo>
                    <a:pt x="4490212" y="910341"/>
                    <a:pt x="4551680" y="850016"/>
                    <a:pt x="4551680" y="776737"/>
                  </a:cubicBezTo>
                  <a:lnTo>
                    <a:pt x="4551680" y="169800"/>
                  </a:lnTo>
                  <a:cubicBezTo>
                    <a:pt x="4551680" y="96521"/>
                    <a:pt x="4490212" y="36195"/>
                    <a:pt x="4413250" y="36195"/>
                  </a:cubicBezTo>
                  <a:lnTo>
                    <a:pt x="174625" y="36195"/>
                  </a:lnTo>
                  <a:lnTo>
                    <a:pt x="174625" y="18034"/>
                  </a:lnTo>
                  <a:lnTo>
                    <a:pt x="174625" y="36068"/>
                  </a:lnTo>
                  <a:cubicBezTo>
                    <a:pt x="97663" y="36068"/>
                    <a:pt x="36195" y="96394"/>
                    <a:pt x="36195" y="169673"/>
                  </a:cubicBezTo>
                  <a:close/>
                </a:path>
              </a:pathLst>
            </a:custGeom>
            <a:solidFill>
              <a:srgbClr val="42A5F5"/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587799" cy="99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0">
                  <a:solidFill>
                    <a:srgbClr val="030202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Faster</a:t>
              </a:r>
              <a:endParaRPr lang="en-US" sz="1920">
                <a:solidFill>
                  <a:srgbClr val="030202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463040" y="5071872"/>
            <a:ext cx="2438400" cy="682752"/>
            <a:chOff x="0" y="0"/>
            <a:chExt cx="3251200" cy="9103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51200" cy="910336"/>
            </a:xfrm>
            <a:custGeom>
              <a:avLst/>
              <a:gdLst/>
              <a:ahLst/>
              <a:cxnLst/>
              <a:rect l="l" t="t" r="r" b="b"/>
              <a:pathLst>
                <a:path w="3251200" h="910336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3099435" y="0"/>
                  </a:lnTo>
                  <a:cubicBezTo>
                    <a:pt x="3183255" y="0"/>
                    <a:pt x="3251200" y="67945"/>
                    <a:pt x="3251200" y="151765"/>
                  </a:cubicBezTo>
                  <a:lnTo>
                    <a:pt x="3251200" y="758571"/>
                  </a:lnTo>
                  <a:cubicBezTo>
                    <a:pt x="3251200" y="842391"/>
                    <a:pt x="3183255" y="910336"/>
                    <a:pt x="3099435" y="910336"/>
                  </a:cubicBezTo>
                  <a:lnTo>
                    <a:pt x="151765" y="910336"/>
                  </a:lnTo>
                  <a:cubicBezTo>
                    <a:pt x="67945" y="910336"/>
                    <a:pt x="0" y="842391"/>
                    <a:pt x="0" y="758571"/>
                  </a:cubicBezTo>
                  <a:close/>
                </a:path>
              </a:pathLst>
            </a:custGeom>
            <a:solidFill>
              <a:srgbClr val="66BB6A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3251200" cy="95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60"/>
                </a:lnSpc>
              </a:pPr>
              <a:r>
                <a:rPr lang="en-US" sz="213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MPI</a:t>
              </a:r>
              <a:endParaRPr lang="en-US" sz="213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4375575" y="5058327"/>
            <a:ext cx="3440849" cy="709845"/>
            <a:chOff x="0" y="0"/>
            <a:chExt cx="4587799" cy="946460"/>
          </a:xfrm>
        </p:grpSpPr>
        <p:sp>
          <p:nvSpPr>
            <p:cNvPr id="30" name="Freeform 30"/>
            <p:cNvSpPr/>
            <p:nvPr/>
          </p:nvSpPr>
          <p:spPr>
            <a:xfrm>
              <a:off x="18034" y="18034"/>
              <a:ext cx="4551680" cy="910468"/>
            </a:xfrm>
            <a:custGeom>
              <a:avLst/>
              <a:gdLst/>
              <a:ahLst/>
              <a:cxnLst/>
              <a:rect l="l" t="t" r="r" b="b"/>
              <a:pathLst>
                <a:path w="4551680" h="910468">
                  <a:moveTo>
                    <a:pt x="0" y="151766"/>
                  </a:moveTo>
                  <a:cubicBezTo>
                    <a:pt x="0" y="67946"/>
                    <a:pt x="70104" y="0"/>
                    <a:pt x="156464" y="0"/>
                  </a:cubicBezTo>
                  <a:lnTo>
                    <a:pt x="4395216" y="0"/>
                  </a:lnTo>
                  <a:cubicBezTo>
                    <a:pt x="4481703" y="0"/>
                    <a:pt x="4551680" y="67946"/>
                    <a:pt x="4551680" y="151766"/>
                  </a:cubicBezTo>
                  <a:lnTo>
                    <a:pt x="4551680" y="758703"/>
                  </a:lnTo>
                  <a:cubicBezTo>
                    <a:pt x="4551680" y="842523"/>
                    <a:pt x="4481576" y="910469"/>
                    <a:pt x="4395216" y="910469"/>
                  </a:cubicBezTo>
                  <a:lnTo>
                    <a:pt x="156591" y="910469"/>
                  </a:lnTo>
                  <a:cubicBezTo>
                    <a:pt x="70104" y="910469"/>
                    <a:pt x="127" y="842523"/>
                    <a:pt x="127" y="758703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587875" cy="946537"/>
            </a:xfrm>
            <a:custGeom>
              <a:avLst/>
              <a:gdLst/>
              <a:ahLst/>
              <a:cxnLst/>
              <a:rect l="l" t="t" r="r" b="b"/>
              <a:pathLst>
                <a:path w="4587875" h="946537">
                  <a:moveTo>
                    <a:pt x="0" y="169800"/>
                  </a:moveTo>
                  <a:cubicBezTo>
                    <a:pt x="0" y="75438"/>
                    <a:pt x="78740" y="0"/>
                    <a:pt x="174625" y="0"/>
                  </a:cubicBezTo>
                  <a:lnTo>
                    <a:pt x="4413250" y="0"/>
                  </a:lnTo>
                  <a:lnTo>
                    <a:pt x="4413250" y="18034"/>
                  </a:lnTo>
                  <a:lnTo>
                    <a:pt x="4413250" y="0"/>
                  </a:lnTo>
                  <a:cubicBezTo>
                    <a:pt x="4509135" y="0"/>
                    <a:pt x="4587875" y="75438"/>
                    <a:pt x="4587875" y="169800"/>
                  </a:cubicBezTo>
                  <a:lnTo>
                    <a:pt x="4569841" y="169800"/>
                  </a:lnTo>
                  <a:lnTo>
                    <a:pt x="4587875" y="169800"/>
                  </a:lnTo>
                  <a:lnTo>
                    <a:pt x="4587875" y="776737"/>
                  </a:lnTo>
                  <a:lnTo>
                    <a:pt x="4569841" y="776737"/>
                  </a:lnTo>
                  <a:lnTo>
                    <a:pt x="4587875" y="776737"/>
                  </a:lnTo>
                  <a:cubicBezTo>
                    <a:pt x="4587875" y="870971"/>
                    <a:pt x="4509135" y="946537"/>
                    <a:pt x="4413250" y="946537"/>
                  </a:cubicBezTo>
                  <a:lnTo>
                    <a:pt x="4413250" y="928376"/>
                  </a:lnTo>
                  <a:lnTo>
                    <a:pt x="4413250" y="946410"/>
                  </a:lnTo>
                  <a:lnTo>
                    <a:pt x="174625" y="946410"/>
                  </a:lnTo>
                  <a:lnTo>
                    <a:pt x="174625" y="928376"/>
                  </a:lnTo>
                  <a:lnTo>
                    <a:pt x="174625" y="946410"/>
                  </a:lnTo>
                  <a:cubicBezTo>
                    <a:pt x="78740" y="946410"/>
                    <a:pt x="0" y="870971"/>
                    <a:pt x="0" y="776737"/>
                  </a:cubicBezTo>
                  <a:lnTo>
                    <a:pt x="0" y="169800"/>
                  </a:lnTo>
                  <a:lnTo>
                    <a:pt x="18034" y="169800"/>
                  </a:lnTo>
                  <a:lnTo>
                    <a:pt x="0" y="169800"/>
                  </a:lnTo>
                  <a:moveTo>
                    <a:pt x="36068" y="169800"/>
                  </a:moveTo>
                  <a:lnTo>
                    <a:pt x="36068" y="776737"/>
                  </a:lnTo>
                  <a:lnTo>
                    <a:pt x="18034" y="776737"/>
                  </a:lnTo>
                  <a:lnTo>
                    <a:pt x="36068" y="776737"/>
                  </a:lnTo>
                  <a:cubicBezTo>
                    <a:pt x="36068" y="850016"/>
                    <a:pt x="97536" y="910341"/>
                    <a:pt x="174498" y="910341"/>
                  </a:cubicBezTo>
                  <a:lnTo>
                    <a:pt x="4413250" y="910341"/>
                  </a:lnTo>
                  <a:cubicBezTo>
                    <a:pt x="4490212" y="910341"/>
                    <a:pt x="4551680" y="850016"/>
                    <a:pt x="4551680" y="776737"/>
                  </a:cubicBezTo>
                  <a:lnTo>
                    <a:pt x="4551680" y="169800"/>
                  </a:lnTo>
                  <a:cubicBezTo>
                    <a:pt x="4551680" y="96521"/>
                    <a:pt x="4490212" y="36195"/>
                    <a:pt x="4413250" y="36195"/>
                  </a:cubicBezTo>
                  <a:lnTo>
                    <a:pt x="174625" y="36195"/>
                  </a:lnTo>
                  <a:lnTo>
                    <a:pt x="174625" y="18034"/>
                  </a:lnTo>
                  <a:lnTo>
                    <a:pt x="174625" y="36068"/>
                  </a:lnTo>
                  <a:cubicBezTo>
                    <a:pt x="97663" y="36068"/>
                    <a:pt x="36195" y="96394"/>
                    <a:pt x="36195" y="169673"/>
                  </a:cubicBezTo>
                  <a:close/>
                </a:path>
              </a:pathLst>
            </a:custGeom>
            <a:solidFill>
              <a:srgbClr val="66BB6A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4587799" cy="99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0">
                  <a:solidFill>
                    <a:srgbClr val="030202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Fastest</a:t>
              </a:r>
              <a:endParaRPr lang="en-US" sz="1920">
                <a:solidFill>
                  <a:srgbClr val="030202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5100">
                <a:alpha val="100000"/>
              </a:srgbClr>
            </a:gs>
            <a:gs pos="100000">
              <a:srgbClr val="6A1B9A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315200" y="292608"/>
            <a:ext cx="2438400" cy="2438400"/>
            <a:chOff x="0" y="0"/>
            <a:chExt cx="3251200" cy="325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distributed-database-icon-suitable-for-a-wide-range-of-digital-creative-projects-free-vector.jpg"/>
          <p:cNvSpPr/>
          <p:nvPr/>
        </p:nvSpPr>
        <p:spPr>
          <a:xfrm>
            <a:off x="390144" y="487680"/>
            <a:ext cx="1755648" cy="1755648"/>
          </a:xfrm>
          <a:custGeom>
            <a:avLst/>
            <a:gdLst/>
            <a:ahLst/>
            <a:cxnLst/>
            <a:rect l="l" t="t" r="r" b="b"/>
            <a:pathLst>
              <a:path w="1755648" h="1755648">
                <a:moveTo>
                  <a:pt x="0" y="0"/>
                </a:moveTo>
                <a:lnTo>
                  <a:pt x="1755648" y="0"/>
                </a:lnTo>
                <a:lnTo>
                  <a:pt x="1755648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⚖️ Comparison Summary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2806" y="2979420"/>
            <a:ext cx="6644640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Serial          ✅ Simple     ❌ Very slow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Pthreads       ✅ High control     ❌ Complex code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OpenMP        ✅ Easy &amp; efficient     ❌ Limited to shared memory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MPI            ✅ Best scalability     ❌ Communication overhead</a:t>
            </a:r>
            <a:endParaRPr lang="en-US" sz="21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E20">
                <a:alpha val="100000"/>
              </a:srgbClr>
            </a:gs>
            <a:gs pos="100000">
              <a:srgbClr val="0D47A1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46304" y="45720"/>
            <a:ext cx="1755648" cy="1755648"/>
            <a:chOff x="0" y="0"/>
            <a:chExt cx="2340864" cy="2340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0864" cy="2340864"/>
            </a:xfrm>
            <a:custGeom>
              <a:avLst/>
              <a:gdLst/>
              <a:ahLst/>
              <a:cxnLst/>
              <a:rect l="l" t="t" r="r" b="b"/>
              <a:pathLst>
                <a:path w="2340864" h="2340864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950720" y="0"/>
                  </a:lnTo>
                  <a:cubicBezTo>
                    <a:pt x="2166239" y="0"/>
                    <a:pt x="2340864" y="174625"/>
                    <a:pt x="2340864" y="390144"/>
                  </a:cubicBezTo>
                  <a:lnTo>
                    <a:pt x="2340864" y="1950720"/>
                  </a:lnTo>
                  <a:cubicBezTo>
                    <a:pt x="2340864" y="2166239"/>
                    <a:pt x="2166239" y="2340864"/>
                    <a:pt x="1950720" y="2340864"/>
                  </a:cubicBezTo>
                  <a:lnTo>
                    <a:pt x="390144" y="2340864"/>
                  </a:lnTo>
                  <a:cubicBezTo>
                    <a:pt x="174625" y="2340864"/>
                    <a:pt x="0" y="2166239"/>
                    <a:pt x="0" y="195072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🏆 Overall Analysis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5920" y="1744218"/>
            <a:ext cx="6553200" cy="252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Which Execution is Better?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For small datasets: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OpenMP / Pthreads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For large datasets &amp; clusters: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→ MPI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815"/>
              </a:lnSpc>
            </a:pPr>
            <a:r>
              <a:rPr lang="en-US" sz="234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⚠️ Serial is not suitable for performance-critical systems</a:t>
            </a:r>
            <a:endParaRPr lang="en-US" sz="234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A148C">
                <a:alpha val="100000"/>
              </a:srgbClr>
            </a:gs>
            <a:gs pos="100000">
              <a:srgbClr val="B71C1C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802880" y="4389120"/>
            <a:ext cx="1950720" cy="1950720"/>
            <a:chOff x="0" y="0"/>
            <a:chExt cx="2600960" cy="260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0960" cy="2600960"/>
            </a:xfrm>
            <a:custGeom>
              <a:avLst/>
              <a:gdLst/>
              <a:ahLst/>
              <a:cxnLst/>
              <a:rect l="l" t="t" r="r" b="b"/>
              <a:pathLst>
                <a:path w="2600960" h="2600960">
                  <a:moveTo>
                    <a:pt x="0" y="1300480"/>
                  </a:moveTo>
                  <a:cubicBezTo>
                    <a:pt x="0" y="582295"/>
                    <a:pt x="582295" y="0"/>
                    <a:pt x="1300480" y="0"/>
                  </a:cubicBezTo>
                  <a:cubicBezTo>
                    <a:pt x="2018665" y="0"/>
                    <a:pt x="2600960" y="582295"/>
                    <a:pt x="2600960" y="1300480"/>
                  </a:cubicBezTo>
                  <a:cubicBezTo>
                    <a:pt x="2600960" y="2018665"/>
                    <a:pt x="2018665" y="2600960"/>
                    <a:pt x="1300480" y="2600960"/>
                  </a:cubicBezTo>
                  <a:cubicBezTo>
                    <a:pt x="582295" y="2600960"/>
                    <a:pt x="0" y="2018665"/>
                    <a:pt x="0" y="130048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 descr="images (1).png"/>
          <p:cNvSpPr/>
          <p:nvPr/>
        </p:nvSpPr>
        <p:spPr>
          <a:xfrm>
            <a:off x="0" y="-149352"/>
            <a:ext cx="1950720" cy="1950720"/>
          </a:xfrm>
          <a:custGeom>
            <a:avLst/>
            <a:gdLst/>
            <a:ahLst/>
            <a:cxnLst/>
            <a:rect l="l" t="t" r="r" b="b"/>
            <a:pathLst>
              <a:path w="1950720" h="1950720">
                <a:moveTo>
                  <a:pt x="0" y="0"/>
                </a:moveTo>
                <a:lnTo>
                  <a:pt x="1950720" y="0"/>
                </a:lnTo>
                <a:lnTo>
                  <a:pt x="1950720" y="1950720"/>
                </a:lnTo>
                <a:lnTo>
                  <a:pt x="0" y="195072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9120" y="340614"/>
            <a:ext cx="8595360" cy="11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426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✨ Conclusion</a:t>
            </a:r>
            <a:endParaRPr lang="en-US" sz="426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50720" y="1943578"/>
            <a:ext cx="6248400" cy="37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Key Takeaways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Parallel programming significantly improves performance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MPI provides the best execution time due to distributed workload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✓ OpenMP is the best balance between performance and ease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Choice of technique depends on: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Hardware availability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Dataset size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2685"/>
              </a:lnSpc>
            </a:pPr>
            <a:r>
              <a:rPr lang="en-US" sz="2235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• Development complexity</a:t>
            </a:r>
            <a:endParaRPr lang="en-US" sz="2235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11B92">
                <a:alpha val="100000"/>
              </a:srgbClr>
            </a:gs>
            <a:gs pos="100000">
              <a:srgbClr val="006064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315200" y="487680"/>
            <a:ext cx="2438400" cy="2438400"/>
            <a:chOff x="0" y="0"/>
            <a:chExt cx="3251200" cy="325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1200" cy="3251200"/>
            </a:xfrm>
            <a:custGeom>
              <a:avLst/>
              <a:gdLst/>
              <a:ahLst/>
              <a:cxnLst/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37"/>
                    <a:pt x="727837" y="0"/>
                    <a:pt x="1625600" y="0"/>
                  </a:cubicBezTo>
                  <a:cubicBezTo>
                    <a:pt x="2523363" y="0"/>
                    <a:pt x="3251200" y="727837"/>
                    <a:pt x="3251200" y="1625600"/>
                  </a:cubicBezTo>
                  <a:cubicBezTo>
                    <a:pt x="3251200" y="2523363"/>
                    <a:pt x="2523363" y="3251200"/>
                    <a:pt x="1625600" y="3251200"/>
                  </a:cubicBezTo>
                  <a:cubicBezTo>
                    <a:pt x="727837" y="3251200"/>
                    <a:pt x="0" y="2523363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-487680" y="4389120"/>
            <a:ext cx="1950720" cy="1950720"/>
            <a:chOff x="0" y="0"/>
            <a:chExt cx="2600960" cy="2600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0960" cy="2600960"/>
            </a:xfrm>
            <a:custGeom>
              <a:avLst/>
              <a:gdLst/>
              <a:ahLst/>
              <a:cxnLst/>
              <a:rect l="l" t="t" r="r" b="b"/>
              <a:pathLst>
                <a:path w="2600960" h="2600960">
                  <a:moveTo>
                    <a:pt x="0" y="1300480"/>
                  </a:moveTo>
                  <a:cubicBezTo>
                    <a:pt x="0" y="582295"/>
                    <a:pt x="582295" y="0"/>
                    <a:pt x="1300480" y="0"/>
                  </a:cubicBezTo>
                  <a:cubicBezTo>
                    <a:pt x="2018665" y="0"/>
                    <a:pt x="2600960" y="582295"/>
                    <a:pt x="2600960" y="1300480"/>
                  </a:cubicBezTo>
                  <a:cubicBezTo>
                    <a:pt x="2600960" y="2018665"/>
                    <a:pt x="2018665" y="2600960"/>
                    <a:pt x="1300480" y="2600960"/>
                  </a:cubicBezTo>
                  <a:cubicBezTo>
                    <a:pt x="582295" y="2600960"/>
                    <a:pt x="0" y="2018665"/>
                    <a:pt x="0" y="130048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8290560" y="5364480"/>
            <a:ext cx="1463040" cy="1463040"/>
            <a:chOff x="0" y="0"/>
            <a:chExt cx="195072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0720" cy="1950720"/>
            </a:xfrm>
            <a:custGeom>
              <a:avLst/>
              <a:gdLst/>
              <a:ahLst/>
              <a:cxnLst/>
              <a:rect l="l" t="t" r="r" b="b"/>
              <a:pathLst>
                <a:path w="1950720" h="1950720">
                  <a:moveTo>
                    <a:pt x="0" y="325120"/>
                  </a:moveTo>
                  <a:cubicBezTo>
                    <a:pt x="0" y="145542"/>
                    <a:pt x="145542" y="0"/>
                    <a:pt x="325120" y="0"/>
                  </a:cubicBezTo>
                  <a:lnTo>
                    <a:pt x="1625600" y="0"/>
                  </a:lnTo>
                  <a:cubicBezTo>
                    <a:pt x="1805178" y="0"/>
                    <a:pt x="1950720" y="145542"/>
                    <a:pt x="1950720" y="325120"/>
                  </a:cubicBezTo>
                  <a:lnTo>
                    <a:pt x="1950720" y="1625600"/>
                  </a:lnTo>
                  <a:cubicBezTo>
                    <a:pt x="1950720" y="1805178"/>
                    <a:pt x="1805178" y="1950720"/>
                    <a:pt x="1625600" y="1950720"/>
                  </a:cubicBezTo>
                  <a:lnTo>
                    <a:pt x="325120" y="1950720"/>
                  </a:lnTo>
                  <a:cubicBezTo>
                    <a:pt x="145542" y="1950720"/>
                    <a:pt x="0" y="1805178"/>
                    <a:pt x="0" y="1625600"/>
                  </a:cubicBezTo>
                  <a:close/>
                </a:path>
              </a:pathLst>
            </a:custGeom>
            <a:solidFill>
              <a:srgbClr val="1ACAD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 descr="images.png"/>
          <p:cNvSpPr/>
          <p:nvPr/>
        </p:nvSpPr>
        <p:spPr>
          <a:xfrm>
            <a:off x="4096512" y="487680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0"/>
                </a:moveTo>
                <a:lnTo>
                  <a:pt x="1463040" y="0"/>
                </a:lnTo>
                <a:lnTo>
                  <a:pt x="146304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42160" y="2484120"/>
            <a:ext cx="566928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825" b="1">
                <a:solidFill>
                  <a:srgbClr val="FFFFFF"/>
                </a:solidFill>
                <a:latin typeface="Segoe Script Bold" panose="020B0804020000000003"/>
                <a:ea typeface="Segoe Script Bold" panose="020B0804020000000003"/>
                <a:cs typeface="Segoe Script Bold" panose="020B0804020000000003"/>
                <a:sym typeface="Segoe Script Bold" panose="020B0804020000000003"/>
              </a:rPr>
              <a:t>Thank You!</a:t>
            </a:r>
            <a:endParaRPr lang="en-US" sz="6825" b="1">
              <a:solidFill>
                <a:srgbClr val="FFFFFF"/>
              </a:solidFill>
              <a:latin typeface="Segoe Script Bold" panose="020B0804020000000003"/>
              <a:ea typeface="Segoe Script Bold" panose="020B0804020000000003"/>
              <a:cs typeface="Segoe Script Bold" panose="020B0804020000000003"/>
              <a:sym typeface="Segoe Script Bold" panose="020B08040200000000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42160" y="4142232"/>
            <a:ext cx="5669280" cy="688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5">
                <a:solidFill>
                  <a:srgbClr val="DCDCDC"/>
                </a:solidFill>
                <a:latin typeface="Segoe Script" panose="030B0504020000000003"/>
                <a:ea typeface="Segoe Script" panose="030B0504020000000003"/>
                <a:cs typeface="Segoe Script" panose="030B0504020000000003"/>
                <a:sym typeface="Segoe Script" panose="030B0504020000000003"/>
              </a:rPr>
              <a:t>Questions?</a:t>
            </a:r>
            <a:endParaRPr lang="en-US" sz="3415">
              <a:solidFill>
                <a:srgbClr val="DCDCDC"/>
              </a:solidFill>
              <a:latin typeface="Segoe Script" panose="030B0504020000000003"/>
              <a:ea typeface="Segoe Script" panose="030B0504020000000003"/>
              <a:cs typeface="Segoe Script" panose="030B0504020000000003"/>
              <a:sym typeface="Segoe Script" panose="030B0504020000000003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3089</Words>
  <Application>WPS Presentation</Application>
  <PresentationFormat>On-screen Show (4:3)</PresentationFormat>
  <Paragraphs>159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Segoe Script Bold</vt:lpstr>
      <vt:lpstr>Times New Roman MT</vt:lpstr>
      <vt:lpstr>Calibri (MS) Bold</vt:lpstr>
      <vt:lpstr>Arial</vt:lpstr>
      <vt:lpstr>Calibri (MS)</vt:lpstr>
      <vt:lpstr>Segoe Script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WanderHub_AI_Presentation.pptx</dc:title>
  <dc:creator/>
  <cp:lastModifiedBy>Faheem Raza</cp:lastModifiedBy>
  <cp:revision>6</cp:revision>
  <dcterms:created xsi:type="dcterms:W3CDTF">2006-08-16T00:00:00Z</dcterms:created>
  <dcterms:modified xsi:type="dcterms:W3CDTF">2026-01-15T07:54:01Z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B23174BE017F4E5D8924E1B2833F10A5_12</vt:lpwstr>
  </property>
  <property fmtid="{D5CDD505-2E9C-101B-9397-08002B2CF9AE}" pid="3" name="KSOProductBuildVer">
    <vt:lpwstr>1033-12.2.0.23196</vt:lpwstr>
  </property>
</Properties>
</file>